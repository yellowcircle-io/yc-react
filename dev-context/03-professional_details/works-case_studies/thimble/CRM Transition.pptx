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9" r:id="rId6"/>
    <p:sldId id="261" r:id="rId7"/>
    <p:sldId id="316" r:id="rId8"/>
    <p:sldId id="272" r:id="rId9"/>
    <p:sldId id="284" r:id="rId10"/>
    <p:sldId id="285" r:id="rId11"/>
    <p:sldId id="314" r:id="rId12"/>
    <p:sldId id="287" r:id="rId13"/>
    <p:sldId id="309" r:id="rId14"/>
    <p:sldId id="288" r:id="rId15"/>
    <p:sldId id="293" r:id="rId16"/>
    <p:sldId id="300" r:id="rId17"/>
    <p:sldId id="302" r:id="rId18"/>
    <p:sldId id="301" r:id="rId19"/>
    <p:sldId id="274" r:id="rId20"/>
    <p:sldId id="286" r:id="rId21"/>
    <p:sldId id="295" r:id="rId22"/>
    <p:sldId id="267" r:id="rId23"/>
    <p:sldId id="308" r:id="rId24"/>
    <p:sldId id="290" r:id="rId25"/>
    <p:sldId id="292" r:id="rId26"/>
    <p:sldId id="291" r:id="rId27"/>
    <p:sldId id="260" r:id="rId28"/>
    <p:sldId id="294" r:id="rId29"/>
    <p:sldId id="257" r:id="rId30"/>
    <p:sldId id="296" r:id="rId31"/>
    <p:sldId id="263" r:id="rId32"/>
    <p:sldId id="297" r:id="rId33"/>
    <p:sldId id="268" r:id="rId34"/>
    <p:sldId id="298" r:id="rId35"/>
    <p:sldId id="278" r:id="rId36"/>
    <p:sldId id="299" r:id="rId37"/>
    <p:sldId id="264" r:id="rId38"/>
    <p:sldId id="270" r:id="rId39"/>
    <p:sldId id="269" r:id="rId40"/>
    <p:sldId id="265" r:id="rId41"/>
    <p:sldId id="273" r:id="rId42"/>
    <p:sldId id="312" r:id="rId43"/>
    <p:sldId id="258" r:id="rId44"/>
    <p:sldId id="313" r:id="rId45"/>
    <p:sldId id="282" r:id="rId46"/>
    <p:sldId id="304" r:id="rId47"/>
    <p:sldId id="319" r:id="rId48"/>
    <p:sldId id="266" r:id="rId49"/>
    <p:sldId id="306" r:id="rId50"/>
    <p:sldId id="32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7643BD-34A9-3744-86F6-0B68D63DF407}">
          <p14:sldIdLst>
            <p14:sldId id="256"/>
          </p14:sldIdLst>
        </p14:section>
        <p14:section name="Touchpoint: Iterable" id="{2F690373-E706-794C-81A9-CD1FCEE6A3C1}">
          <p14:sldIdLst>
            <p14:sldId id="259"/>
            <p14:sldId id="261"/>
            <p14:sldId id="316"/>
            <p14:sldId id="272"/>
            <p14:sldId id="284"/>
            <p14:sldId id="285"/>
            <p14:sldId id="314"/>
            <p14:sldId id="287"/>
            <p14:sldId id="309"/>
            <p14:sldId id="288"/>
            <p14:sldId id="293"/>
            <p14:sldId id="300"/>
            <p14:sldId id="302"/>
            <p14:sldId id="301"/>
            <p14:sldId id="274"/>
            <p14:sldId id="286"/>
            <p14:sldId id="295"/>
          </p14:sldIdLst>
        </p14:section>
        <p14:section name="Touchpoint: SendGrid" id="{11F39A4F-E06C-A446-9E89-37952703AE1B}">
          <p14:sldIdLst>
            <p14:sldId id="267"/>
            <p14:sldId id="308"/>
            <p14:sldId id="290"/>
            <p14:sldId id="292"/>
            <p14:sldId id="291"/>
          </p14:sldIdLst>
        </p14:section>
        <p14:section name="Touchpoint: Yotpo" id="{E6A9AD51-2E94-AD49-802C-E34E4DE92AC6}">
          <p14:sldIdLst>
            <p14:sldId id="260"/>
            <p14:sldId id="294"/>
          </p14:sldIdLst>
        </p14:section>
        <p14:section name="Touchpoint: Delighted" id="{3A1808D5-8125-7D46-B3C8-EBE2C9D040D1}">
          <p14:sldIdLst>
            <p14:sldId id="257"/>
            <p14:sldId id="296"/>
          </p14:sldIdLst>
        </p14:section>
        <p14:section name="Typeform" id="{79B5898E-C4A7-CB42-8DFA-029DDBBF967C}">
          <p14:sldIdLst>
            <p14:sldId id="263"/>
            <p14:sldId id="297"/>
          </p14:sldIdLst>
        </p14:section>
        <p14:section name="Weblow" id="{1C2F4AAF-BCB1-254A-9579-0FAAB928D374}">
          <p14:sldIdLst>
            <p14:sldId id="268"/>
            <p14:sldId id="298"/>
          </p14:sldIdLst>
        </p14:section>
        <p14:section name="Reply / Prospect" id="{C8B88EED-10A1-344C-B086-0601A4EE7131}">
          <p14:sldIdLst>
            <p14:sldId id="278"/>
            <p14:sldId id="299"/>
          </p14:sldIdLst>
        </p14:section>
        <p14:section name="Outstanding Projects" id="{9B8567D3-1258-7C4B-8225-78281F3C2A32}">
          <p14:sldIdLst>
            <p14:sldId id="264"/>
            <p14:sldId id="270"/>
            <p14:sldId id="269"/>
          </p14:sldIdLst>
        </p14:section>
        <p14:section name="Auxilary Processes" id="{4DA13365-B8B7-4847-B15C-7607F22B35A3}">
          <p14:sldIdLst>
            <p14:sldId id="265"/>
            <p14:sldId id="273"/>
            <p14:sldId id="312"/>
            <p14:sldId id="258"/>
            <p14:sldId id="313"/>
          </p14:sldIdLst>
        </p14:section>
        <p14:section name="Recommendation" id="{204AC73D-02CE-F246-B4E9-D09301159AF3}">
          <p14:sldIdLst>
            <p14:sldId id="282"/>
            <p14:sldId id="304"/>
            <p14:sldId id="319"/>
          </p14:sldIdLst>
        </p14:section>
        <p14:section name="Appendix" id="{DA498196-1C87-1D44-B63C-CA9436EB941F}">
          <p14:sldIdLst>
            <p14:sldId id="266"/>
            <p14:sldId id="306"/>
            <p14:sldId id="3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05" autoAdjust="0"/>
    <p:restoredTop sz="94660"/>
  </p:normalViewPr>
  <p:slideViewPr>
    <p:cSldViewPr snapToGrid="0">
      <p:cViewPr varScale="1">
        <p:scale>
          <a:sx n="101" d="100"/>
          <a:sy n="101" d="100"/>
        </p:scale>
        <p:origin x="216" y="1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7/28/19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7/28/19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7/28/19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7/28/19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pitchFamily="2" charset="0"/>
              </a:defRPr>
            </a:lvl1pPr>
          </a:lstStyle>
          <a:p>
            <a:fld id="{846CE7D5-CF57-46EF-B807-FDD0502418D4}" type="datetimeFigureOut">
              <a:rPr lang="en-US" smtClean="0"/>
              <a:pPr/>
              <a:t>7/28/19</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pitchFamily="2" charset="0"/>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pitchFamily="2"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b="0"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verifly.sharepoint.com/:x:/r/_layouts/15/Doc.aspx?sourcedoc=%7bcb0556a9-28f2-4f9e-911a-6a7e8a1d0063%7d&amp;action=edit&amp;wdPreviousSession=72bd7202%2Dff89%2D486a%2Daa7a%2D4d379d66dca8"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mailto:chris@verifly.com" TargetMode="External"/><Relationship Id="rId2" Type="http://schemas.openxmlformats.org/officeDocument/2006/relationships/hyperlink" Target="mailto:hi@verifly.com"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open?id=12CuFKcbi5G_QpjFGlN9Hr0xvC9sHtBhiDJmabDuAazg" TargetMode="External"/><Relationship Id="rId2" Type="http://schemas.openxmlformats.org/officeDocument/2006/relationships/hyperlink" Target="https://drive.google.com/open?id=10awQZeprn6CoUlNglwIqUyqX9le_jcRDL0sE4UZiVnw"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app.iterable.com/workflows/40930/edit" TargetMode="External"/><Relationship Id="rId7" Type="http://schemas.openxmlformats.org/officeDocument/2006/relationships/hyperlink" Target="https://app.iterable.com/workflows/47173/edit" TargetMode="External"/><Relationship Id="rId2" Type="http://schemas.openxmlformats.org/officeDocument/2006/relationships/hyperlink" Target="https://app.iterable.com/workflows/46026/edit" TargetMode="External"/><Relationship Id="rId1" Type="http://schemas.openxmlformats.org/officeDocument/2006/relationships/slideLayout" Target="../slideLayouts/slideLayout1.xml"/><Relationship Id="rId6" Type="http://schemas.openxmlformats.org/officeDocument/2006/relationships/hyperlink" Target="https://app.iterable.com/workflows/45699/edit" TargetMode="External"/><Relationship Id="rId5" Type="http://schemas.openxmlformats.org/officeDocument/2006/relationships/hyperlink" Target="https://app.iterable.com/workflows/47183/edit" TargetMode="External"/><Relationship Id="rId4" Type="http://schemas.openxmlformats.org/officeDocument/2006/relationships/hyperlink" Target="https://app.iterable.com/workflows/40932/edit"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app.iterable.com/workflows/40932/edit" TargetMode="External"/><Relationship Id="rId2" Type="http://schemas.openxmlformats.org/officeDocument/2006/relationships/hyperlink" Target="https://app.iterable.com/workflows/46026/edit" TargetMode="External"/><Relationship Id="rId1" Type="http://schemas.openxmlformats.org/officeDocument/2006/relationships/slideLayout" Target="../slideLayouts/slideLayout1.xml"/><Relationship Id="rId5" Type="http://schemas.openxmlformats.org/officeDocument/2006/relationships/hyperlink" Target="https://app.iterable.com/workflows/47183/edit" TargetMode="External"/><Relationship Id="rId4" Type="http://schemas.openxmlformats.org/officeDocument/2006/relationships/hyperlink" Target="https://app.iterable.com/workflows/40930/edit"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app.iterable.com/workflows/47173/edit" TargetMode="External"/><Relationship Id="rId2" Type="http://schemas.openxmlformats.org/officeDocument/2006/relationships/hyperlink" Target="https://app.iterable.com/workflows/45699/edit"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app.iterable.com/campaigns/review?campaignId=623899" TargetMode="External"/><Relationship Id="rId2" Type="http://schemas.openxmlformats.org/officeDocument/2006/relationships/hyperlink" Target="https://app.iterable.com/campaigns/review?campaignId=623860" TargetMode="External"/><Relationship Id="rId1" Type="http://schemas.openxmlformats.org/officeDocument/2006/relationships/slideLayout" Target="../slideLayouts/slideLayout1.xml"/><Relationship Id="rId5" Type="http://schemas.openxmlformats.org/officeDocument/2006/relationships/hyperlink" Target="https://support.iterable.com/hc/en-us/articles/204795659-Rendering-templates-with-data-feeds" TargetMode="External"/><Relationship Id="rId4" Type="http://schemas.openxmlformats.org/officeDocument/2006/relationships/hyperlink" Target="https://app.iterable.com/integrations/dataFeeds"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verifly-my.sharepoint.com/:x:/p/chris/Ea3G7lzntbNBndqivIz7FeIBgJma-ewTKY8qBjXgQ1Y5dQ?e=N0J0s3"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verifly-my.sharepoint.com/:x:/p/chris/Ea3G7lzntbNBndqivIz7FeIBgJma-ewTKY8qBjXgQ1Y5dQ?e=H3VdsH"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app.iterable.com/templates/snippet/5823/edit" TargetMode="External"/><Relationship Id="rId3" Type="http://schemas.openxmlformats.org/officeDocument/2006/relationships/hyperlink" Target="https://app.iterable.com/templates/snippet/8198/edit" TargetMode="External"/><Relationship Id="rId7" Type="http://schemas.openxmlformats.org/officeDocument/2006/relationships/hyperlink" Target="https://app.iterable.com/templates/snippet/5824/edit" TargetMode="External"/><Relationship Id="rId12" Type="http://schemas.openxmlformats.org/officeDocument/2006/relationships/hyperlink" Target="https://app.iterable.com/templates/snippet/5819/edit" TargetMode="External"/><Relationship Id="rId2" Type="http://schemas.openxmlformats.org/officeDocument/2006/relationships/hyperlink" Target="https://app.iterable.com/templates/snippet/8199/edit" TargetMode="External"/><Relationship Id="rId1" Type="http://schemas.openxmlformats.org/officeDocument/2006/relationships/slideLayout" Target="../slideLayouts/slideLayout1.xml"/><Relationship Id="rId6" Type="http://schemas.openxmlformats.org/officeDocument/2006/relationships/hyperlink" Target="https://app.iterable.com/templates/snippet/5825/edit" TargetMode="External"/><Relationship Id="rId11" Type="http://schemas.openxmlformats.org/officeDocument/2006/relationships/hyperlink" Target="https://app.iterable.com/templates/snippet/5820/edit" TargetMode="External"/><Relationship Id="rId5" Type="http://schemas.openxmlformats.org/officeDocument/2006/relationships/hyperlink" Target="https://app.iterable.com/templates/snippet/5827/edit" TargetMode="External"/><Relationship Id="rId10" Type="http://schemas.openxmlformats.org/officeDocument/2006/relationships/hyperlink" Target="https://app.iterable.com/templates/snippet/5821/edit" TargetMode="External"/><Relationship Id="rId4" Type="http://schemas.openxmlformats.org/officeDocument/2006/relationships/hyperlink" Target="https://app.iterable.com/templates/snippet/5828/edit" TargetMode="External"/><Relationship Id="rId9" Type="http://schemas.openxmlformats.org/officeDocument/2006/relationships/hyperlink" Target="https://app.iterable.com/templates/snippet/5822/edit"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verifly-my.sharepoint.com/:x:/p/chris/ESX5p5W-x89EpNy_c4EdbjsBdd5TQh_23MTeMISQoAlBhA?e=iV8j6Z" TargetMode="External"/><Relationship Id="rId2" Type="http://schemas.openxmlformats.org/officeDocument/2006/relationships/hyperlink" Target="https://verifly-my.sharepoint.com/:x:/p/chris/EbDh484jfq1HkACqssJDYckBdSxEtSqxid5zC6WkTH1wIg?e=4bCknk" TargetMode="External"/><Relationship Id="rId1" Type="http://schemas.openxmlformats.org/officeDocument/2006/relationships/slideLayout" Target="../slideLayouts/slideLayout1.xml"/><Relationship Id="rId5" Type="http://schemas.openxmlformats.org/officeDocument/2006/relationships/hyperlink" Target="https://support.iterable.com/hc/en-us/articles/206430145-Contact-properties" TargetMode="External"/><Relationship Id="rId4" Type="http://schemas.openxmlformats.org/officeDocument/2006/relationships/hyperlink" Target="https://docs.google.com/spreadsheets/d/10awQZeprn6CoUlNglwIqUyqX9le_jcRDL0sE4UZiVnw/edit#gid=53530248"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sketch.cloud/s/8AZwY" TargetMode="External"/><Relationship Id="rId2" Type="http://schemas.openxmlformats.org/officeDocument/2006/relationships/hyperlink" Target="https://sketch.cloud/s/1eYOb"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support.iterable.com/hc/en-us/sections/201118025-Analytics-and-Reporting" TargetMode="External"/><Relationship Id="rId2" Type="http://schemas.openxmlformats.org/officeDocument/2006/relationships/hyperlink" Target="https://iterable.com/blog/introducing-iterable-insights/"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docs.google.com/presentation/d/1ulj7jf6dMS1vG8wJIvWHhipjYeTC-rgudCXKE1WFG-o/edit#slide=id.g3cfe6a73a8_2_1077" TargetMode="External"/><Relationship Id="rId2" Type="http://schemas.openxmlformats.org/officeDocument/2006/relationships/hyperlink" Target="https://docs.google.com/presentation/d/1R5Hp8PZbETYxxz2QlaMhwSFMJ8UxhfYKmggGBLG3s0k/edit#slide=id.p33" TargetMode="External"/><Relationship Id="rId1" Type="http://schemas.openxmlformats.org/officeDocument/2006/relationships/slideLayout" Target="../slideLayouts/slideLayout1.xml"/><Relationship Id="rId4" Type="http://schemas.openxmlformats.org/officeDocument/2006/relationships/hyperlink" Target="https://www.processon.com/view/link/5d084eb9e4b024123dde5a5f"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www.smartinsights.com/email-marketing/email-communications-strategy/statistics-sources-for-email-marketing/" TargetMode="External"/><Relationship Id="rId3" Type="http://schemas.openxmlformats.org/officeDocument/2006/relationships/hyperlink" Target="https://www.cio.com/article/3085630/11-crm-best-practices.html" TargetMode="External"/><Relationship Id="rId7" Type="http://schemas.openxmlformats.org/officeDocument/2006/relationships/hyperlink" Target="https://www.campaignmonitor.com/resources/guides/email-marketing-benchmarks/" TargetMode="External"/><Relationship Id="rId2" Type="http://schemas.openxmlformats.org/officeDocument/2006/relationships/hyperlink" Target="https://www.salesforce.com/crm/best-practices/" TargetMode="External"/><Relationship Id="rId1" Type="http://schemas.openxmlformats.org/officeDocument/2006/relationships/slideLayout" Target="../slideLayouts/slideLayout1.xml"/><Relationship Id="rId6" Type="http://schemas.openxmlformats.org/officeDocument/2006/relationships/hyperlink" Target="https://mailchimp.com/resources/email-marketing-benchmarks/" TargetMode="External"/><Relationship Id="rId5" Type="http://schemas.openxmlformats.org/officeDocument/2006/relationships/hyperlink" Target="https://blog.capterra.com/understanding-the-marketing-mix-the-4-ps-of-marketing/" TargetMode="External"/><Relationship Id="rId4" Type="http://schemas.openxmlformats.org/officeDocument/2006/relationships/hyperlink" Target="https://keap.com/product/crm-best-practic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mailto:sendgridtest@verifly.com" TargetMode="External"/><Relationship Id="rId2" Type="http://schemas.openxmlformats.org/officeDocument/2006/relationships/hyperlink" Target="mailto:hi@verifly.com"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hyperlink" Target="https://app.asana.com/0/inbox/995133742428061/1132977086735139/1133353887880944"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hyperlink" Target="mailto:hi@verifly.com"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www.netpromoter.com/know/"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hyperlink" Target="mailto:hi@verifly.com"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mailto:hi@verifly.com"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mailto:hi@verifly.com"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verifly.sharepoint.com/:u:/g/EQ7d6tr8CapPqsIrhhmD2PgBarItk8Gzy5zupY18XK2TvA?e=Y5FfXg" TargetMode="External"/><Relationship Id="rId2" Type="http://schemas.openxmlformats.org/officeDocument/2006/relationships/hyperlink" Target="https://app.asana.com/0/inbox/995133742428061/1132977086735139/1133353887880944"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litmus.com/checklist" TargetMode="External"/><Relationship Id="rId2" Type="http://schemas.openxmlformats.org/officeDocument/2006/relationships/hyperlink" Target="mailto:hi@verifly.com" TargetMode="External"/><Relationship Id="rId1" Type="http://schemas.openxmlformats.org/officeDocument/2006/relationships/slideLayout" Target="../slideLayouts/slideLayout1.xml"/><Relationship Id="rId4" Type="http://schemas.openxmlformats.org/officeDocument/2006/relationships/hyperlink" Target="https://litmus.com/analytics/1909920-efdjkfqq/summary"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hyperlink" Target="https://zapier.com/app/editor/57021537/overview" TargetMode="External"/><Relationship Id="rId2" Type="http://schemas.openxmlformats.org/officeDocument/2006/relationships/hyperlink" Target="mailto:hi@verifly.com"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www.activecampaign.com/pricing/" TargetMode="External"/><Relationship Id="rId2" Type="http://schemas.openxmlformats.org/officeDocument/2006/relationships/hyperlink" Target="https://www.braze.com/product/" TargetMode="External"/><Relationship Id="rId1" Type="http://schemas.openxmlformats.org/officeDocument/2006/relationships/slideLayout" Target="../slideLayouts/slideLayout1.xml"/><Relationship Id="rId4" Type="http://schemas.openxmlformats.org/officeDocument/2006/relationships/hyperlink" Target="https://www.drip.com/features" TargetMode="External"/></Relationships>
</file>

<file path=ppt/slides/_rels/slide45.xml.rels><?xml version="1.0" encoding="UTF-8" standalone="yes"?>
<Relationships xmlns="http://schemas.openxmlformats.org/package/2006/relationships"><Relationship Id="rId2" Type="http://schemas.openxmlformats.org/officeDocument/2006/relationships/hyperlink" Target="https://verifly.sharepoint.com/:x:/r/_layouts/15/Doc.aspx?sourcedoc=%7bcb0556a9-28f2-4f9e-911a-6a7e8a1d0063%7d&amp;action=edit&amp;wdPreviousSession=72bd7202%2Dff89%2D486a%2Daa7a%2D4d379d66dca8"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gn="l"/>
            <a:r>
              <a:rPr lang="en-US" sz="8000" dirty="0">
                <a:latin typeface="Helvetica" pitchFamily="2" charset="0"/>
                <a:cs typeface="Calibri Light"/>
              </a:rPr>
              <a:t>CRM OVERVIEW</a:t>
            </a:r>
            <a:endParaRPr lang="en-US" sz="8000" dirty="0">
              <a:latin typeface="Helvetica" pitchFamily="2" charset="0"/>
            </a:endParaRPr>
          </a:p>
        </p:txBody>
      </p:sp>
      <p:sp>
        <p:nvSpPr>
          <p:cNvPr id="3" name="Subtitle 2"/>
          <p:cNvSpPr>
            <a:spLocks noGrp="1"/>
          </p:cNvSpPr>
          <p:nvPr>
            <p:ph type="subTitle" idx="1"/>
          </p:nvPr>
        </p:nvSpPr>
        <p:spPr/>
        <p:txBody>
          <a:bodyPr vert="horz" lIns="91440" tIns="45720" rIns="91440" bIns="45720" rtlCol="0" anchor="t">
            <a:noAutofit/>
          </a:bodyPr>
          <a:lstStyle/>
          <a:p>
            <a:pPr algn="l"/>
            <a:r>
              <a:rPr lang="en-US" sz="3600" dirty="0">
                <a:cs typeface="Calibri"/>
              </a:rPr>
              <a:t>TRANSITION / ONBOARDING DOCUMENTATION</a:t>
            </a:r>
            <a:endParaRPr lang="en-US" sz="3600" dirty="0"/>
          </a:p>
        </p:txBody>
      </p:sp>
      <p:sp>
        <p:nvSpPr>
          <p:cNvPr id="4" name="Title 1">
            <a:extLst>
              <a:ext uri="{FF2B5EF4-FFF2-40B4-BE49-F238E27FC236}">
                <a16:creationId xmlns:a16="http://schemas.microsoft.com/office/drawing/2014/main" id="{E58E0D87-7D6B-4B3C-A57D-31290508C02D}"/>
              </a:ext>
            </a:extLst>
          </p:cNvPr>
          <p:cNvSpPr txBox="1">
            <a:spLocks/>
          </p:cNvSpPr>
          <p:nvPr/>
        </p:nvSpPr>
        <p:spPr>
          <a:xfrm>
            <a:off x="1676400" y="308972"/>
            <a:ext cx="979082" cy="234507"/>
          </a:xfrm>
          <a:prstGeom prst="rect">
            <a:avLst/>
          </a:prstGeom>
          <a:solidFill>
            <a:schemeClr val="tx1"/>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100" dirty="0">
                <a:solidFill>
                  <a:schemeClr val="accent4">
                    <a:lumMod val="40000"/>
                    <a:lumOff val="60000"/>
                  </a:schemeClr>
                </a:solidFill>
                <a:latin typeface="Helvetica" pitchFamily="2" charset="0"/>
                <a:hlinkClick r:id="rId2"/>
              </a:rPr>
              <a:t>AFFIX</a:t>
            </a:r>
            <a:endParaRPr lang="en-US" sz="1100" dirty="0">
              <a:solidFill>
                <a:schemeClr val="accent4">
                  <a:lumMod val="40000"/>
                  <a:lumOff val="60000"/>
                </a:schemeClr>
              </a:solidFill>
              <a:latin typeface="Helvetica" pitchFamily="2" charset="0"/>
              <a:cs typeface="Calibri Light"/>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gn="l"/>
            <a:r>
              <a:rPr lang="en-US" sz="7200" dirty="0">
                <a:solidFill>
                  <a:schemeClr val="accent4"/>
                </a:solidFill>
                <a:latin typeface="Helvetica" pitchFamily="2" charset="0"/>
                <a:cs typeface="Calibri Light"/>
              </a:rPr>
              <a:t>Touch Points</a:t>
            </a:r>
          </a:p>
        </p:txBody>
      </p:sp>
      <p:sp>
        <p:nvSpPr>
          <p:cNvPr id="3" name="Subtitle 2"/>
          <p:cNvSpPr>
            <a:spLocks noGrp="1"/>
          </p:cNvSpPr>
          <p:nvPr>
            <p:ph type="subTitle" idx="1"/>
          </p:nvPr>
        </p:nvSpPr>
        <p:spPr/>
        <p:txBody>
          <a:bodyPr vert="horz" lIns="91440" tIns="45720" rIns="91440" bIns="45720" rtlCol="0" anchor="t">
            <a:noAutofit/>
          </a:bodyPr>
          <a:lstStyle/>
          <a:p>
            <a:pPr algn="l"/>
            <a:r>
              <a:rPr lang="en-US" sz="3200" dirty="0">
                <a:solidFill>
                  <a:schemeClr val="accent4"/>
                </a:solidFill>
                <a:cs typeface="Calibri"/>
              </a:rPr>
              <a:t>Systems that send outgoing messages</a:t>
            </a:r>
            <a:endParaRPr lang="en-US" dirty="0"/>
          </a:p>
        </p:txBody>
      </p:sp>
    </p:spTree>
    <p:extLst>
      <p:ext uri="{BB962C8B-B14F-4D97-AF65-F5344CB8AC3E}">
        <p14:creationId xmlns:p14="http://schemas.microsoft.com/office/powerpoint/2010/main" val="1669251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gn="l"/>
            <a:r>
              <a:rPr lang="en-US" sz="6600" dirty="0">
                <a:latin typeface="Helvetica" pitchFamily="2" charset="0"/>
                <a:cs typeface="Calibri Light"/>
              </a:rPr>
              <a:t>Iterable</a:t>
            </a:r>
            <a:endParaRPr lang="en-US" sz="6600" dirty="0">
              <a:cs typeface="Calibri Light" panose="020F0302020204030204"/>
            </a:endParaRPr>
          </a:p>
        </p:txBody>
      </p:sp>
      <p:sp>
        <p:nvSpPr>
          <p:cNvPr id="3" name="Subtitle 2"/>
          <p:cNvSpPr>
            <a:spLocks noGrp="1"/>
          </p:cNvSpPr>
          <p:nvPr>
            <p:ph type="subTitle" idx="1"/>
          </p:nvPr>
        </p:nvSpPr>
        <p:spPr/>
        <p:txBody>
          <a:bodyPr vert="horz" lIns="91440" tIns="45720" rIns="91440" bIns="45720" rtlCol="0" anchor="t">
            <a:noAutofit/>
          </a:bodyPr>
          <a:lstStyle/>
          <a:p>
            <a:pPr algn="l"/>
            <a:r>
              <a:rPr lang="en-US" sz="2800" dirty="0">
                <a:cs typeface="Calibri"/>
              </a:rPr>
              <a:t>Outgoing Marketing Messages</a:t>
            </a:r>
          </a:p>
        </p:txBody>
      </p:sp>
    </p:spTree>
    <p:extLst>
      <p:ext uri="{BB962C8B-B14F-4D97-AF65-F5344CB8AC3E}">
        <p14:creationId xmlns:p14="http://schemas.microsoft.com/office/powerpoint/2010/main" val="1612875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SendGrid</a:t>
            </a:r>
            <a:endParaRPr lang="en-US" sz="4800" dirty="0"/>
          </a:p>
        </p:txBody>
      </p:sp>
      <p:sp>
        <p:nvSpPr>
          <p:cNvPr id="3" name="Subtitle 2"/>
          <p:cNvSpPr>
            <a:spLocks noGrp="1"/>
          </p:cNvSpPr>
          <p:nvPr>
            <p:ph type="subTitle" idx="1"/>
          </p:nvPr>
        </p:nvSpPr>
        <p:spPr>
          <a:xfrm>
            <a:off x="1524000" y="748037"/>
            <a:ext cx="9708682" cy="1612648"/>
          </a:xfrm>
        </p:spPr>
        <p:txBody>
          <a:bodyPr vert="horz" lIns="91440" tIns="45720" rIns="91440" bIns="45720" numCol="1" rtlCol="0" anchor="t">
            <a:noAutofit/>
          </a:bodyPr>
          <a:lstStyle/>
          <a:p>
            <a:pPr algn="l"/>
            <a:r>
              <a:rPr lang="en-US" sz="2800" dirty="0">
                <a:latin typeface="Helvetica" pitchFamily="2" charset="0"/>
                <a:cs typeface="Calibri"/>
              </a:rPr>
              <a:t>Usage:</a:t>
            </a:r>
          </a:p>
          <a:p>
            <a:pPr algn="l">
              <a:lnSpc>
                <a:spcPct val="100000"/>
              </a:lnSpc>
              <a:spcBef>
                <a:spcPts val="0"/>
              </a:spcBef>
            </a:pPr>
            <a:r>
              <a:rPr lang="en-US" sz="1600" dirty="0">
                <a:cs typeface="Calibri"/>
              </a:rPr>
              <a:t>Marketing Automation / Marketing Messaging</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3795373"/>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endParaRPr lang="en-US" sz="1600" dirty="0">
              <a:cs typeface="Calibri"/>
              <a:hlinkClick r:id="rId2"/>
            </a:endParaRPr>
          </a:p>
          <a:p>
            <a:pPr algn="l">
              <a:lnSpc>
                <a:spcPct val="100000"/>
              </a:lnSpc>
              <a:spcBef>
                <a:spcPts val="0"/>
              </a:spcBef>
            </a:pPr>
            <a:r>
              <a:rPr lang="en-US" sz="1400" b="1" dirty="0">
                <a:cs typeface="Calibri"/>
              </a:rPr>
              <a:t>Main User</a:t>
            </a:r>
            <a:r>
              <a:rPr lang="en-US" sz="1400" dirty="0">
                <a:cs typeface="Calibri"/>
              </a:rPr>
              <a:t>: </a:t>
            </a:r>
            <a:r>
              <a:rPr lang="en-US" sz="1400" dirty="0">
                <a:cs typeface="Calibri"/>
                <a:hlinkClick r:id="rId3"/>
              </a:rPr>
              <a:t>chris@verifly.com</a:t>
            </a:r>
            <a:r>
              <a:rPr lang="en-US" sz="1400" dirty="0">
                <a:cs typeface="Calibri"/>
              </a:rPr>
              <a:t> / </a:t>
            </a:r>
            <a:r>
              <a:rPr lang="en-US" sz="1400" b="1" dirty="0">
                <a:cs typeface="Calibri"/>
              </a:rPr>
              <a:t>pass</a:t>
            </a:r>
            <a:r>
              <a:rPr lang="en-US" sz="1400" dirty="0">
                <a:cs typeface="Calibri"/>
              </a:rPr>
              <a:t>: V3r1fly!</a:t>
            </a:r>
          </a:p>
          <a:p>
            <a:pPr algn="l">
              <a:lnSpc>
                <a:spcPct val="100000"/>
              </a:lnSpc>
              <a:spcBef>
                <a:spcPts val="0"/>
              </a:spcBef>
            </a:pPr>
            <a:r>
              <a:rPr lang="en-US" sz="1400" b="1" dirty="0">
                <a:solidFill>
                  <a:prstClr val="black"/>
                </a:solidFill>
                <a:cs typeface="Calibri"/>
              </a:rPr>
              <a:t>Super User Backup</a:t>
            </a:r>
            <a:r>
              <a:rPr lang="en-US" sz="1400" dirty="0">
                <a:solidFill>
                  <a:prstClr val="black"/>
                </a:solidFill>
                <a:cs typeface="Calibri"/>
              </a:rPr>
              <a:t>: </a:t>
            </a:r>
            <a:r>
              <a:rPr lang="en-US" sz="1400" dirty="0">
                <a:solidFill>
                  <a:prstClr val="black"/>
                </a:solidFill>
                <a:cs typeface="Calibri"/>
                <a:hlinkClick r:id="rId2"/>
              </a:rPr>
              <a:t>hi@verifly.com</a:t>
            </a:r>
            <a:r>
              <a:rPr lang="en-US" sz="1400" dirty="0">
                <a:solidFill>
                  <a:prstClr val="black"/>
                </a:solidFill>
                <a:cs typeface="Calibri"/>
              </a:rPr>
              <a:t> / </a:t>
            </a:r>
            <a:r>
              <a:rPr lang="en-US" sz="1400" b="1" dirty="0">
                <a:solidFill>
                  <a:prstClr val="black"/>
                </a:solidFill>
                <a:cs typeface="Calibri"/>
              </a:rPr>
              <a:t>pass</a:t>
            </a:r>
            <a:r>
              <a:rPr lang="en-US" sz="1400" dirty="0">
                <a:solidFill>
                  <a:prstClr val="black"/>
                </a:solidFill>
                <a:cs typeface="Calibri"/>
              </a:rPr>
              <a:t>: </a:t>
            </a:r>
            <a:r>
              <a:rPr lang="en-US" sz="1400" dirty="0">
                <a:cs typeface="Calibri"/>
              </a:rPr>
              <a:t>V3r1fly!</a:t>
            </a: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1810589"/>
            <a:ext cx="9410700"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There are four projects in Iterable:</a:t>
            </a:r>
          </a:p>
          <a:p>
            <a:pPr algn="l">
              <a:lnSpc>
                <a:spcPct val="100000"/>
              </a:lnSpc>
              <a:spcBef>
                <a:spcPts val="0"/>
              </a:spcBef>
            </a:pPr>
            <a:r>
              <a:rPr lang="en-US" sz="1600" dirty="0">
                <a:cs typeface="Calibri"/>
              </a:rPr>
              <a:t>Verifly – currently the main instance, connected to production environment</a:t>
            </a:r>
          </a:p>
          <a:p>
            <a:pPr algn="l">
              <a:lnSpc>
                <a:spcPct val="100000"/>
              </a:lnSpc>
              <a:spcBef>
                <a:spcPts val="0"/>
              </a:spcBef>
            </a:pPr>
            <a:r>
              <a:rPr lang="en-US" sz="1600" dirty="0">
                <a:cs typeface="Calibri"/>
              </a:rPr>
              <a:t>Verifly – Sandbox (connected to the staging environment)</a:t>
            </a:r>
          </a:p>
          <a:p>
            <a:pPr algn="l">
              <a:lnSpc>
                <a:spcPct val="100000"/>
              </a:lnSpc>
              <a:spcBef>
                <a:spcPts val="0"/>
              </a:spcBef>
            </a:pPr>
            <a:r>
              <a:rPr lang="en-US" sz="1600" dirty="0">
                <a:cs typeface="Calibri"/>
              </a:rPr>
              <a:t>Verifly – Live (not currently connected, intention would be to only port sound data from production)</a:t>
            </a:r>
          </a:p>
          <a:p>
            <a:pPr algn="l">
              <a:lnSpc>
                <a:spcPct val="100000"/>
              </a:lnSpc>
              <a:spcBef>
                <a:spcPts val="0"/>
              </a:spcBef>
            </a:pPr>
            <a:r>
              <a:rPr lang="en-US" sz="1600" dirty="0">
                <a:cs typeface="Calibri"/>
              </a:rPr>
              <a:t>Verifly –  Dev (used by the dev team for testing)</a:t>
            </a:r>
          </a:p>
          <a:p>
            <a:pPr algn="l"/>
            <a:endParaRPr lang="en-US" sz="2000" dirty="0">
              <a:cs typeface="Calibri"/>
            </a:endParaRPr>
          </a:p>
        </p:txBody>
      </p:sp>
    </p:spTree>
    <p:extLst>
      <p:ext uri="{BB962C8B-B14F-4D97-AF65-F5344CB8AC3E}">
        <p14:creationId xmlns:p14="http://schemas.microsoft.com/office/powerpoint/2010/main" val="3096321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Subtitle 2"/>
          <p:cNvSpPr>
            <a:spLocks noGrp="1"/>
          </p:cNvSpPr>
          <p:nvPr>
            <p:ph type="subTitle" idx="1"/>
          </p:nvPr>
        </p:nvSpPr>
        <p:spPr>
          <a:xfrm>
            <a:off x="1524000" y="1874247"/>
            <a:ext cx="9144000" cy="1951304"/>
          </a:xfrm>
        </p:spPr>
        <p:txBody>
          <a:bodyPr vert="horz" lIns="91440" tIns="45720" rIns="91440" bIns="45720" rtlCol="0" anchor="t">
            <a:noAutofit/>
          </a:bodyPr>
          <a:lstStyle/>
          <a:p>
            <a:pPr algn="l"/>
            <a:r>
              <a:rPr lang="en-US" sz="2800" b="1" dirty="0">
                <a:cs typeface="Calibri"/>
              </a:rPr>
              <a:t>Iterable</a:t>
            </a:r>
            <a:r>
              <a:rPr lang="en-US" sz="2800" dirty="0">
                <a:cs typeface="Calibri"/>
              </a:rPr>
              <a:t> is the primary means by which Verifly reaches contacts with Marketing Messaging. It is a Marketing Automation Platform (Not actually a CRM) that enables multichannel touchpoints. These include Email, In-App, SMS, and Push Notifications. </a:t>
            </a:r>
          </a:p>
          <a:p>
            <a:pPr algn="l"/>
            <a:endParaRPr lang="en-US" sz="2800" dirty="0">
              <a:cs typeface="Calibri"/>
            </a:endParaRPr>
          </a:p>
          <a:p>
            <a:pPr algn="l"/>
            <a:r>
              <a:rPr lang="en-US" sz="2800" dirty="0">
                <a:cs typeface="Calibri"/>
                <a:hlinkClick r:id="rId2"/>
              </a:rPr>
              <a:t>Here is a copy </a:t>
            </a:r>
            <a:r>
              <a:rPr lang="en-US" sz="2800" dirty="0">
                <a:cs typeface="Calibri"/>
              </a:rPr>
              <a:t>of the initial launch plan and </a:t>
            </a:r>
            <a:r>
              <a:rPr lang="en-US" sz="2800" dirty="0">
                <a:cs typeface="Calibri"/>
                <a:hlinkClick r:id="rId3"/>
              </a:rPr>
              <a:t>Iterable plan</a:t>
            </a:r>
            <a:endParaRPr lang="en-US" sz="2800" dirty="0">
              <a:cs typeface="Calibri"/>
            </a:endParaRPr>
          </a:p>
        </p:txBody>
      </p:sp>
    </p:spTree>
    <p:extLst>
      <p:ext uri="{BB962C8B-B14F-4D97-AF65-F5344CB8AC3E}">
        <p14:creationId xmlns:p14="http://schemas.microsoft.com/office/powerpoint/2010/main" val="3993550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7" name="Subtitle 2">
            <a:extLst>
              <a:ext uri="{FF2B5EF4-FFF2-40B4-BE49-F238E27FC236}">
                <a16:creationId xmlns:a16="http://schemas.microsoft.com/office/drawing/2014/main" id="{91F82999-9AAC-A84C-9B56-C3456DAFEC9A}"/>
              </a:ext>
            </a:extLst>
          </p:cNvPr>
          <p:cNvSpPr txBox="1">
            <a:spLocks/>
          </p:cNvSpPr>
          <p:nvPr/>
        </p:nvSpPr>
        <p:spPr>
          <a:xfrm>
            <a:off x="1523999" y="863595"/>
            <a:ext cx="9987816" cy="637941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latin typeface="Helvetica" pitchFamily="2" charset="0"/>
                <a:cs typeface="Calibri"/>
              </a:rPr>
              <a:t>Currently Iterable is largely used to send emails despite its additionally capabilities. Although SMS, Mobile Push, and In-App were set up in late Q2 2019.</a:t>
            </a:r>
          </a:p>
          <a:p>
            <a:pPr algn="l"/>
            <a:endParaRPr lang="en-US" sz="2800" dirty="0">
              <a:latin typeface="Helvetica" pitchFamily="2" charset="0"/>
              <a:cs typeface="Calibri"/>
            </a:endParaRPr>
          </a:p>
          <a:p>
            <a:pPr algn="l"/>
            <a:r>
              <a:rPr lang="en-US" sz="2800" dirty="0">
                <a:latin typeface="Helvetica" pitchFamily="2" charset="0"/>
                <a:cs typeface="Calibri"/>
              </a:rPr>
              <a:t>As such the Iterable instance was initially set up to optimize around the limitation of only having email as a distribution medium. Accordingly, there are a handful of distribution flows:</a:t>
            </a:r>
          </a:p>
          <a:p>
            <a:pPr algn="l"/>
            <a:r>
              <a:rPr lang="en-US" sz="1600" dirty="0">
                <a:latin typeface="Helvetica" pitchFamily="2" charset="0"/>
                <a:hlinkClick r:id="rId2"/>
              </a:rPr>
              <a:t>Nurture Program – Quote Abandonment Journey | Q2 2019</a:t>
            </a:r>
            <a:r>
              <a:rPr lang="en-US" sz="1600" dirty="0">
                <a:latin typeface="Helvetica" pitchFamily="2" charset="0"/>
              </a:rPr>
              <a:t>: 3 Emails</a:t>
            </a:r>
            <a:endParaRPr lang="en-US" sz="1600" dirty="0">
              <a:latin typeface="Helvetica" pitchFamily="2" charset="0"/>
              <a:cs typeface="Calibri"/>
            </a:endParaRPr>
          </a:p>
          <a:p>
            <a:pPr algn="l"/>
            <a:r>
              <a:rPr lang="en-US" sz="1600" dirty="0">
                <a:latin typeface="Helvetica" pitchFamily="2" charset="0"/>
                <a:hlinkClick r:id="rId3"/>
              </a:rPr>
              <a:t>Nurture Program – Customer Journey | Q1 2019</a:t>
            </a:r>
            <a:r>
              <a:rPr lang="en-US" sz="1600" dirty="0">
                <a:latin typeface="Helvetica" pitchFamily="2" charset="0"/>
              </a:rPr>
              <a:t>:  5 Emails</a:t>
            </a:r>
          </a:p>
          <a:p>
            <a:pPr algn="l"/>
            <a:r>
              <a:rPr lang="en-US" sz="1600" dirty="0">
                <a:latin typeface="Helvetica" pitchFamily="2" charset="0"/>
                <a:hlinkClick r:id="rId4"/>
              </a:rPr>
              <a:t>Nurture Program – Quote Lead Journey | Q1 2019</a:t>
            </a:r>
            <a:r>
              <a:rPr lang="en-US" sz="1600" dirty="0">
                <a:latin typeface="Helvetica" pitchFamily="2" charset="0"/>
              </a:rPr>
              <a:t>: 6 Emails</a:t>
            </a:r>
          </a:p>
          <a:p>
            <a:pPr algn="l"/>
            <a:r>
              <a:rPr lang="en-US" sz="1600" dirty="0">
                <a:latin typeface="Helvetica" pitchFamily="2" charset="0"/>
                <a:hlinkClick r:id="rId5"/>
              </a:rPr>
              <a:t>Nurture Program – Customer Journey / Extension (Policy Expired) | Q2 2019</a:t>
            </a:r>
            <a:r>
              <a:rPr lang="en-US" sz="1600" dirty="0">
                <a:latin typeface="Helvetica" pitchFamily="2" charset="0"/>
              </a:rPr>
              <a:t>: 1 Email</a:t>
            </a:r>
          </a:p>
          <a:p>
            <a:pPr algn="l"/>
            <a:r>
              <a:rPr lang="en-US" sz="1600" dirty="0">
                <a:latin typeface="Helvetica" pitchFamily="2" charset="0"/>
                <a:hlinkClick r:id="rId6"/>
              </a:rPr>
              <a:t>Blog Confirmation Workflow</a:t>
            </a:r>
            <a:r>
              <a:rPr lang="en-US" sz="1600" dirty="0">
                <a:latin typeface="Helvetica" pitchFamily="2" charset="0"/>
              </a:rPr>
              <a:t>: 1 Email</a:t>
            </a:r>
          </a:p>
          <a:p>
            <a:pPr algn="l"/>
            <a:r>
              <a:rPr lang="en-US" sz="1600" dirty="0">
                <a:latin typeface="Helvetica" pitchFamily="2" charset="0"/>
                <a:hlinkClick r:id="rId7"/>
              </a:rPr>
              <a:t>[User Engagement / Breakpoint]</a:t>
            </a:r>
            <a:r>
              <a:rPr lang="en-US" sz="1600" dirty="0">
                <a:latin typeface="Helvetica" pitchFamily="2" charset="0"/>
              </a:rPr>
              <a:t>: 1 Email</a:t>
            </a:r>
          </a:p>
          <a:p>
            <a:pPr algn="l"/>
            <a:endParaRPr lang="en-US" sz="1600" dirty="0">
              <a:latin typeface="Helvetica" pitchFamily="2" charset="0"/>
            </a:endParaRPr>
          </a:p>
          <a:p>
            <a:pPr algn="l"/>
            <a:endParaRPr lang="en-US" dirty="0">
              <a:latin typeface="Helvetica" pitchFamily="2" charset="0"/>
            </a:endParaRPr>
          </a:p>
          <a:p>
            <a:pPr algn="l"/>
            <a:endParaRPr lang="en-US" sz="2800" dirty="0">
              <a:latin typeface="Helvetica" pitchFamily="2" charset="0"/>
              <a:cs typeface="Calibri"/>
            </a:endParaRPr>
          </a:p>
          <a:p>
            <a:pPr algn="l"/>
            <a:endParaRPr lang="en-US" sz="2800" dirty="0">
              <a:latin typeface="Helvetica" pitchFamily="2" charset="0"/>
              <a:cs typeface="Calibri"/>
            </a:endParaRPr>
          </a:p>
        </p:txBody>
      </p:sp>
    </p:spTree>
    <p:extLst>
      <p:ext uri="{BB962C8B-B14F-4D97-AF65-F5344CB8AC3E}">
        <p14:creationId xmlns:p14="http://schemas.microsoft.com/office/powerpoint/2010/main" val="337766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Title 1">
            <a:extLst>
              <a:ext uri="{FF2B5EF4-FFF2-40B4-BE49-F238E27FC236}">
                <a16:creationId xmlns:a16="http://schemas.microsoft.com/office/drawing/2014/main" id="{266297C9-4C96-4E41-B27E-45C3859734F2}"/>
              </a:ext>
            </a:extLst>
          </p:cNvPr>
          <p:cNvSpPr txBox="1">
            <a:spLocks/>
          </p:cNvSpPr>
          <p:nvPr/>
        </p:nvSpPr>
        <p:spPr>
          <a:xfrm>
            <a:off x="1524000" y="1122363"/>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Helvetica" pitchFamily="2" charset="0"/>
                <a:cs typeface="Calibri Light"/>
              </a:rPr>
              <a:t>LTV Focused Workflows</a:t>
            </a:r>
            <a:endParaRPr lang="en-US" sz="3600" dirty="0">
              <a:latin typeface="Helvetica" pitchFamily="2" charset="0"/>
            </a:endParaRPr>
          </a:p>
        </p:txBody>
      </p:sp>
      <p:sp>
        <p:nvSpPr>
          <p:cNvPr id="4" name="Subtitle 2">
            <a:extLst>
              <a:ext uri="{FF2B5EF4-FFF2-40B4-BE49-F238E27FC236}">
                <a16:creationId xmlns:a16="http://schemas.microsoft.com/office/drawing/2014/main" id="{7CBAAEFD-2823-B744-BB46-9DC80FF8AA94}"/>
              </a:ext>
            </a:extLst>
          </p:cNvPr>
          <p:cNvSpPr>
            <a:spLocks noGrp="1"/>
          </p:cNvSpPr>
          <p:nvPr>
            <p:ph type="subTitle" idx="1"/>
          </p:nvPr>
        </p:nvSpPr>
        <p:spPr>
          <a:xfrm>
            <a:off x="1523999" y="4310814"/>
            <a:ext cx="9144001" cy="2317418"/>
          </a:xfrm>
        </p:spPr>
        <p:txBody>
          <a:bodyPr vert="horz" lIns="91440" tIns="45720" rIns="91440" bIns="45720" rtlCol="0" anchor="t">
            <a:noAutofit/>
          </a:bodyPr>
          <a:lstStyle/>
          <a:p>
            <a:pPr algn="l">
              <a:lnSpc>
                <a:spcPct val="150000"/>
              </a:lnSpc>
            </a:pPr>
            <a:r>
              <a:rPr lang="en-US" sz="1800" b="1" dirty="0">
                <a:hlinkClick r:id="rId2"/>
              </a:rPr>
              <a:t>Nurture Program – Quote Abandonment Journey | Q2 2019</a:t>
            </a:r>
            <a:r>
              <a:rPr lang="en-US" sz="1800" b="1" dirty="0"/>
              <a:t> </a:t>
            </a:r>
          </a:p>
          <a:p>
            <a:pPr algn="l">
              <a:lnSpc>
                <a:spcPct val="150000"/>
              </a:lnSpc>
            </a:pPr>
            <a:r>
              <a:rPr lang="en-US" sz="1800" b="1" dirty="0">
                <a:hlinkClick r:id="rId3"/>
              </a:rPr>
              <a:t>Nurture Program – Quote Lead Journey | Q1 2019</a:t>
            </a:r>
            <a:endParaRPr lang="en-US" sz="1800" b="1" dirty="0"/>
          </a:p>
          <a:p>
            <a:pPr algn="l">
              <a:lnSpc>
                <a:spcPct val="150000"/>
              </a:lnSpc>
            </a:pPr>
            <a:r>
              <a:rPr lang="en-US" sz="1800" b="1" dirty="0">
                <a:hlinkClick r:id="rId4"/>
              </a:rPr>
              <a:t>Nurture Program – Customer Journey | Q1 2019</a:t>
            </a:r>
            <a:r>
              <a:rPr lang="en-US" sz="1800" b="1" dirty="0"/>
              <a:t>  </a:t>
            </a:r>
          </a:p>
          <a:p>
            <a:pPr algn="l">
              <a:lnSpc>
                <a:spcPct val="150000"/>
              </a:lnSpc>
            </a:pPr>
            <a:r>
              <a:rPr lang="en-US" sz="1800" b="1" dirty="0">
                <a:hlinkClick r:id="rId5"/>
              </a:rPr>
              <a:t>Nurture Program – Customer Journey / Extension (Policy Expired) | Q2 2019</a:t>
            </a:r>
            <a:endParaRPr lang="en-US" sz="1800" b="1" dirty="0"/>
          </a:p>
          <a:p>
            <a:pPr algn="l">
              <a:lnSpc>
                <a:spcPct val="150000"/>
              </a:lnSpc>
            </a:pPr>
            <a:endParaRPr lang="en-US" sz="2800" dirty="0">
              <a:cs typeface="Calibri"/>
            </a:endParaRPr>
          </a:p>
        </p:txBody>
      </p:sp>
      <p:sp>
        <p:nvSpPr>
          <p:cNvPr id="6" name="Subtitle 2">
            <a:extLst>
              <a:ext uri="{FF2B5EF4-FFF2-40B4-BE49-F238E27FC236}">
                <a16:creationId xmlns:a16="http://schemas.microsoft.com/office/drawing/2014/main" id="{B349D280-8AA4-9542-BC48-A717216B15BB}"/>
              </a:ext>
            </a:extLst>
          </p:cNvPr>
          <p:cNvSpPr txBox="1">
            <a:spLocks/>
          </p:cNvSpPr>
          <p:nvPr/>
        </p:nvSpPr>
        <p:spPr>
          <a:xfrm>
            <a:off x="1524000" y="1924090"/>
            <a:ext cx="6907732" cy="223594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latin typeface="Helvetica" pitchFamily="2" charset="0"/>
                <a:cs typeface="Calibri"/>
              </a:rPr>
              <a:t>The following workflows are concerned with the customer journey and were/are aimed at increasing LTV. Each journey from the top-down leads to the next in terms of the Lead Funnel. </a:t>
            </a:r>
          </a:p>
          <a:p>
            <a:pPr algn="l"/>
            <a:r>
              <a:rPr lang="en-US" dirty="0">
                <a:latin typeface="Helvetica" pitchFamily="2" charset="0"/>
                <a:cs typeface="Calibri"/>
              </a:rPr>
              <a:t>On the next slide is a breakdown of how these workflows work together</a:t>
            </a:r>
          </a:p>
        </p:txBody>
      </p:sp>
    </p:spTree>
    <p:extLst>
      <p:ext uri="{BB962C8B-B14F-4D97-AF65-F5344CB8AC3E}">
        <p14:creationId xmlns:p14="http://schemas.microsoft.com/office/powerpoint/2010/main" val="1151126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pic>
        <p:nvPicPr>
          <p:cNvPr id="11" name="Picture 10">
            <a:extLst>
              <a:ext uri="{FF2B5EF4-FFF2-40B4-BE49-F238E27FC236}">
                <a16:creationId xmlns:a16="http://schemas.microsoft.com/office/drawing/2014/main" id="{16C599B0-6DE8-A94E-B174-2D722869D5A4}"/>
              </a:ext>
            </a:extLst>
          </p:cNvPr>
          <p:cNvPicPr>
            <a:picLocks noChangeAspect="1"/>
          </p:cNvPicPr>
          <p:nvPr/>
        </p:nvPicPr>
        <p:blipFill rotWithShape="1">
          <a:blip r:embed="rId2">
            <a:extLst>
              <a:ext uri="{28A0092B-C50C-407E-A947-70E740481C1C}">
                <a14:useLocalDpi xmlns:a14="http://schemas.microsoft.com/office/drawing/2010/main" val="0"/>
              </a:ext>
            </a:extLst>
          </a:blip>
          <a:srcRect t="9409"/>
          <a:stretch/>
        </p:blipFill>
        <p:spPr>
          <a:xfrm>
            <a:off x="0" y="648897"/>
            <a:ext cx="12192000" cy="6204686"/>
          </a:xfrm>
          <a:prstGeom prst="rect">
            <a:avLst/>
          </a:prstGeom>
        </p:spPr>
      </p:pic>
    </p:spTree>
    <p:extLst>
      <p:ext uri="{BB962C8B-B14F-4D97-AF65-F5344CB8AC3E}">
        <p14:creationId xmlns:p14="http://schemas.microsoft.com/office/powerpoint/2010/main" val="4001217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Title 1">
            <a:extLst>
              <a:ext uri="{FF2B5EF4-FFF2-40B4-BE49-F238E27FC236}">
                <a16:creationId xmlns:a16="http://schemas.microsoft.com/office/drawing/2014/main" id="{266297C9-4C96-4E41-B27E-45C3859734F2}"/>
              </a:ext>
            </a:extLst>
          </p:cNvPr>
          <p:cNvSpPr txBox="1">
            <a:spLocks/>
          </p:cNvSpPr>
          <p:nvPr/>
        </p:nvSpPr>
        <p:spPr>
          <a:xfrm>
            <a:off x="1524000" y="1122363"/>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Helvetica" pitchFamily="2" charset="0"/>
                <a:cs typeface="Calibri Light"/>
              </a:rPr>
              <a:t>Engagement Focused Workflows</a:t>
            </a:r>
            <a:endParaRPr lang="en-US" sz="3600" dirty="0">
              <a:latin typeface="Helvetica" pitchFamily="2" charset="0"/>
            </a:endParaRPr>
          </a:p>
        </p:txBody>
      </p:sp>
      <p:sp>
        <p:nvSpPr>
          <p:cNvPr id="4" name="Subtitle 2">
            <a:extLst>
              <a:ext uri="{FF2B5EF4-FFF2-40B4-BE49-F238E27FC236}">
                <a16:creationId xmlns:a16="http://schemas.microsoft.com/office/drawing/2014/main" id="{7CBAAEFD-2823-B744-BB46-9DC80FF8AA94}"/>
              </a:ext>
            </a:extLst>
          </p:cNvPr>
          <p:cNvSpPr>
            <a:spLocks noGrp="1"/>
          </p:cNvSpPr>
          <p:nvPr>
            <p:ph type="subTitle" idx="1"/>
          </p:nvPr>
        </p:nvSpPr>
        <p:spPr>
          <a:xfrm>
            <a:off x="1523999" y="5084689"/>
            <a:ext cx="9713495" cy="1028097"/>
          </a:xfrm>
        </p:spPr>
        <p:txBody>
          <a:bodyPr vert="horz" lIns="91440" tIns="45720" rIns="91440" bIns="45720" rtlCol="0" anchor="t">
            <a:noAutofit/>
          </a:bodyPr>
          <a:lstStyle/>
          <a:p>
            <a:pPr algn="l"/>
            <a:r>
              <a:rPr lang="en-US" sz="1800" b="1" dirty="0">
                <a:hlinkClick r:id="rId2"/>
              </a:rPr>
              <a:t>Blog Confirmation Workflow</a:t>
            </a:r>
            <a:endParaRPr lang="en-US" sz="1800" b="1" dirty="0"/>
          </a:p>
          <a:p>
            <a:pPr algn="l"/>
            <a:r>
              <a:rPr lang="en-US" sz="1800" b="1" dirty="0">
                <a:hlinkClick r:id="rId3"/>
              </a:rPr>
              <a:t>User Engagement / Breakpoint</a:t>
            </a:r>
            <a:endParaRPr lang="en-US" sz="1800" dirty="0">
              <a:cs typeface="Calibri"/>
            </a:endParaRPr>
          </a:p>
        </p:txBody>
      </p:sp>
      <p:sp>
        <p:nvSpPr>
          <p:cNvPr id="5" name="Subtitle 2">
            <a:extLst>
              <a:ext uri="{FF2B5EF4-FFF2-40B4-BE49-F238E27FC236}">
                <a16:creationId xmlns:a16="http://schemas.microsoft.com/office/drawing/2014/main" id="{4210625F-7F5A-B242-97DB-F7DCA36D4A34}"/>
              </a:ext>
            </a:extLst>
          </p:cNvPr>
          <p:cNvSpPr txBox="1">
            <a:spLocks/>
          </p:cNvSpPr>
          <p:nvPr/>
        </p:nvSpPr>
        <p:spPr>
          <a:xfrm>
            <a:off x="1523999" y="2074868"/>
            <a:ext cx="8688405" cy="223594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latin typeface="Helvetica" pitchFamily="2" charset="0"/>
                <a:cs typeface="Calibri"/>
              </a:rPr>
              <a:t>These journeys are concerned with amplifying content and / or showing care fore our customers. The blog confirmation is only triggered when a user actively subscribes to the blog. </a:t>
            </a:r>
          </a:p>
          <a:p>
            <a:pPr algn="l"/>
            <a:r>
              <a:rPr lang="en-US" sz="2800" dirty="0">
                <a:latin typeface="Helvetica" pitchFamily="2" charset="0"/>
                <a:cs typeface="Calibri"/>
              </a:rPr>
              <a:t>While the Breakpoint user engagement flow is sent when a user purchases their third policy</a:t>
            </a:r>
          </a:p>
        </p:txBody>
      </p:sp>
    </p:spTree>
    <p:extLst>
      <p:ext uri="{BB962C8B-B14F-4D97-AF65-F5344CB8AC3E}">
        <p14:creationId xmlns:p14="http://schemas.microsoft.com/office/powerpoint/2010/main" val="2876720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Title 1">
            <a:extLst>
              <a:ext uri="{FF2B5EF4-FFF2-40B4-BE49-F238E27FC236}">
                <a16:creationId xmlns:a16="http://schemas.microsoft.com/office/drawing/2014/main" id="{266297C9-4C96-4E41-B27E-45C3859734F2}"/>
              </a:ext>
            </a:extLst>
          </p:cNvPr>
          <p:cNvSpPr txBox="1">
            <a:spLocks/>
          </p:cNvSpPr>
          <p:nvPr/>
        </p:nvSpPr>
        <p:spPr>
          <a:xfrm>
            <a:off x="1524000" y="1122363"/>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Helvetica" pitchFamily="2" charset="0"/>
                <a:cs typeface="Calibri Light"/>
              </a:rPr>
              <a:t>Recurring Blog Send</a:t>
            </a:r>
            <a:endParaRPr lang="en-US" sz="3600" dirty="0">
              <a:latin typeface="Helvetica" pitchFamily="2" charset="0"/>
            </a:endParaRPr>
          </a:p>
        </p:txBody>
      </p:sp>
      <p:sp>
        <p:nvSpPr>
          <p:cNvPr id="4" name="Subtitle 2">
            <a:extLst>
              <a:ext uri="{FF2B5EF4-FFF2-40B4-BE49-F238E27FC236}">
                <a16:creationId xmlns:a16="http://schemas.microsoft.com/office/drawing/2014/main" id="{7CBAAEFD-2823-B744-BB46-9DC80FF8AA94}"/>
              </a:ext>
            </a:extLst>
          </p:cNvPr>
          <p:cNvSpPr>
            <a:spLocks noGrp="1"/>
          </p:cNvSpPr>
          <p:nvPr>
            <p:ph type="subTitle" idx="1"/>
          </p:nvPr>
        </p:nvSpPr>
        <p:spPr>
          <a:xfrm>
            <a:off x="1523999" y="4831882"/>
            <a:ext cx="9713495" cy="1134694"/>
          </a:xfrm>
        </p:spPr>
        <p:txBody>
          <a:bodyPr vert="horz" lIns="91440" tIns="45720" rIns="91440" bIns="45720" rtlCol="0" anchor="t">
            <a:noAutofit/>
          </a:bodyPr>
          <a:lstStyle/>
          <a:p>
            <a:pPr algn="l"/>
            <a:r>
              <a:rPr lang="en-US" sz="1800" b="1" dirty="0">
                <a:hlinkClick r:id="rId2"/>
              </a:rPr>
              <a:t>Weekly Blog Email</a:t>
            </a:r>
            <a:endParaRPr lang="en-US" sz="1800" b="1" dirty="0"/>
          </a:p>
          <a:p>
            <a:pPr algn="l"/>
            <a:r>
              <a:rPr lang="en-US" sz="1800" b="1" dirty="0">
                <a:hlinkClick r:id="rId3"/>
              </a:rPr>
              <a:t>QA Version of Weekly Blog</a:t>
            </a:r>
            <a:endParaRPr lang="en-US" sz="1800" b="1" dirty="0"/>
          </a:p>
          <a:p>
            <a:pPr algn="l"/>
            <a:r>
              <a:rPr lang="en-US" sz="1800" b="1" dirty="0">
                <a:cs typeface="Calibri"/>
                <a:hlinkClick r:id="rId4"/>
              </a:rPr>
              <a:t>Data Feeds used in above templates</a:t>
            </a:r>
            <a:endParaRPr lang="en-US" sz="1800" dirty="0">
              <a:cs typeface="Calibri"/>
            </a:endParaRPr>
          </a:p>
        </p:txBody>
      </p:sp>
      <p:sp>
        <p:nvSpPr>
          <p:cNvPr id="5" name="Subtitle 2">
            <a:extLst>
              <a:ext uri="{FF2B5EF4-FFF2-40B4-BE49-F238E27FC236}">
                <a16:creationId xmlns:a16="http://schemas.microsoft.com/office/drawing/2014/main" id="{4210625F-7F5A-B242-97DB-F7DCA36D4A34}"/>
              </a:ext>
            </a:extLst>
          </p:cNvPr>
          <p:cNvSpPr txBox="1">
            <a:spLocks/>
          </p:cNvSpPr>
          <p:nvPr/>
        </p:nvSpPr>
        <p:spPr>
          <a:xfrm>
            <a:off x="1523999" y="2074868"/>
            <a:ext cx="9063790" cy="223594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latin typeface="Helvetica" pitchFamily="2" charset="0"/>
                <a:cs typeface="Calibri"/>
              </a:rPr>
              <a:t>The weekly blog email that was set up in Iterable was set up to pull data from the Blog, Facebook, and Twitter using </a:t>
            </a:r>
            <a:r>
              <a:rPr lang="en-US" sz="2800" b="1" dirty="0">
                <a:latin typeface="Helvetica" pitchFamily="2" charset="0"/>
                <a:cs typeface="Calibri"/>
                <a:hlinkClick r:id="rId5"/>
              </a:rPr>
              <a:t>Data Feeds </a:t>
            </a:r>
            <a:r>
              <a:rPr lang="en-US" sz="2800" dirty="0">
                <a:latin typeface="Helvetica" pitchFamily="2" charset="0"/>
                <a:cs typeface="Calibri"/>
              </a:rPr>
              <a:t>to aid in content amplification goals. It was scheduled to go out every Thursday after 6pm. </a:t>
            </a:r>
          </a:p>
          <a:p>
            <a:pPr algn="l"/>
            <a:r>
              <a:rPr lang="en-US" sz="2800" dirty="0">
                <a:latin typeface="Helvetica" pitchFamily="2" charset="0"/>
                <a:cs typeface="Calibri"/>
              </a:rPr>
              <a:t>However, it has been paused as of 7/31/19 so that the process and strategy can be reassessed</a:t>
            </a:r>
          </a:p>
        </p:txBody>
      </p:sp>
    </p:spTree>
    <p:extLst>
      <p:ext uri="{BB962C8B-B14F-4D97-AF65-F5344CB8AC3E}">
        <p14:creationId xmlns:p14="http://schemas.microsoft.com/office/powerpoint/2010/main" val="145789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Title 1">
            <a:extLst>
              <a:ext uri="{FF2B5EF4-FFF2-40B4-BE49-F238E27FC236}">
                <a16:creationId xmlns:a16="http://schemas.microsoft.com/office/drawing/2014/main" id="{266297C9-4C96-4E41-B27E-45C3859734F2}"/>
              </a:ext>
            </a:extLst>
          </p:cNvPr>
          <p:cNvSpPr txBox="1">
            <a:spLocks/>
          </p:cNvSpPr>
          <p:nvPr/>
        </p:nvSpPr>
        <p:spPr>
          <a:xfrm>
            <a:off x="1524000" y="1122363"/>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Helvetica" pitchFamily="2" charset="0"/>
                <a:cs typeface="Calibri Light"/>
              </a:rPr>
              <a:t>Other Workflows</a:t>
            </a:r>
            <a:endParaRPr lang="en-US" sz="3600" dirty="0">
              <a:latin typeface="Helvetica" pitchFamily="2" charset="0"/>
            </a:endParaRPr>
          </a:p>
        </p:txBody>
      </p:sp>
      <p:sp>
        <p:nvSpPr>
          <p:cNvPr id="7" name="Subtitle 2">
            <a:extLst>
              <a:ext uri="{FF2B5EF4-FFF2-40B4-BE49-F238E27FC236}">
                <a16:creationId xmlns:a16="http://schemas.microsoft.com/office/drawing/2014/main" id="{7FAD9B93-D64B-E440-96A1-1D1B28847FF8}"/>
              </a:ext>
            </a:extLst>
          </p:cNvPr>
          <p:cNvSpPr txBox="1">
            <a:spLocks/>
          </p:cNvSpPr>
          <p:nvPr/>
        </p:nvSpPr>
        <p:spPr>
          <a:xfrm>
            <a:off x="1523999" y="2074868"/>
            <a:ext cx="9025289" cy="223594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latin typeface="Helvetica" pitchFamily="2" charset="0"/>
                <a:cs typeface="Calibri"/>
              </a:rPr>
              <a:t>There are 20 total workflows in Iterable. Beyond the 6 that are covered in the prior slides the other 14 are used for tracking, segmentation, and analysis purposes. A break down of those workflows can be seen </a:t>
            </a:r>
            <a:r>
              <a:rPr lang="en-US" sz="2800" dirty="0">
                <a:latin typeface="Helvetica" pitchFamily="2" charset="0"/>
                <a:cs typeface="Calibri"/>
                <a:hlinkClick r:id="rId2"/>
              </a:rPr>
              <a:t>here</a:t>
            </a:r>
            <a:r>
              <a:rPr lang="en-US" sz="2800" dirty="0">
                <a:latin typeface="Helvetica" pitchFamily="2" charset="0"/>
                <a:cs typeface="Calibri"/>
              </a:rPr>
              <a:t> </a:t>
            </a:r>
          </a:p>
        </p:txBody>
      </p:sp>
    </p:spTree>
    <p:extLst>
      <p:ext uri="{BB962C8B-B14F-4D97-AF65-F5344CB8AC3E}">
        <p14:creationId xmlns:p14="http://schemas.microsoft.com/office/powerpoint/2010/main" val="646723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Title 1">
            <a:extLst>
              <a:ext uri="{FF2B5EF4-FFF2-40B4-BE49-F238E27FC236}">
                <a16:creationId xmlns:a16="http://schemas.microsoft.com/office/drawing/2014/main" id="{266297C9-4C96-4E41-B27E-45C3859734F2}"/>
              </a:ext>
            </a:extLst>
          </p:cNvPr>
          <p:cNvSpPr txBox="1">
            <a:spLocks/>
          </p:cNvSpPr>
          <p:nvPr/>
        </p:nvSpPr>
        <p:spPr>
          <a:xfrm>
            <a:off x="1524000" y="1122363"/>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Helvetica" pitchFamily="2" charset="0"/>
                <a:cs typeface="Calibri Light"/>
              </a:rPr>
              <a:t>Templates</a:t>
            </a:r>
            <a:endParaRPr lang="en-US" sz="3600" dirty="0">
              <a:latin typeface="Helvetica" pitchFamily="2" charset="0"/>
            </a:endParaRPr>
          </a:p>
        </p:txBody>
      </p:sp>
      <p:sp>
        <p:nvSpPr>
          <p:cNvPr id="7" name="Subtitle 2">
            <a:extLst>
              <a:ext uri="{FF2B5EF4-FFF2-40B4-BE49-F238E27FC236}">
                <a16:creationId xmlns:a16="http://schemas.microsoft.com/office/drawing/2014/main" id="{7FAD9B93-D64B-E440-96A1-1D1B28847FF8}"/>
              </a:ext>
            </a:extLst>
          </p:cNvPr>
          <p:cNvSpPr txBox="1">
            <a:spLocks/>
          </p:cNvSpPr>
          <p:nvPr/>
        </p:nvSpPr>
        <p:spPr>
          <a:xfrm>
            <a:off x="1523999" y="2074868"/>
            <a:ext cx="9025289" cy="244900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latin typeface="Helvetica" pitchFamily="2" charset="0"/>
                <a:cs typeface="Calibri"/>
              </a:rPr>
              <a:t>There are 56 Templates in Iterable. However, only </a:t>
            </a:r>
            <a:r>
              <a:rPr lang="en-US" sz="2800" b="1" dirty="0">
                <a:latin typeface="Helvetica" pitchFamily="2" charset="0"/>
                <a:cs typeface="Calibri"/>
              </a:rPr>
              <a:t>21</a:t>
            </a:r>
            <a:r>
              <a:rPr lang="en-US" sz="2800" dirty="0">
                <a:latin typeface="Helvetica" pitchFamily="2" charset="0"/>
                <a:cs typeface="Calibri"/>
              </a:rPr>
              <a:t> of them are actively used for campaigns; which, can be seen </a:t>
            </a:r>
            <a:r>
              <a:rPr lang="en-US" sz="2800" dirty="0">
                <a:latin typeface="Helvetica" pitchFamily="2" charset="0"/>
                <a:cs typeface="Calibri"/>
                <a:hlinkClick r:id="rId2"/>
              </a:rPr>
              <a:t>here</a:t>
            </a:r>
            <a:r>
              <a:rPr lang="en-US" sz="2800" dirty="0">
                <a:latin typeface="Helvetica" pitchFamily="2" charset="0"/>
                <a:cs typeface="Calibri"/>
              </a:rPr>
              <a:t> (The dates of there creation range from 2-4 months. The other templates were not deleted as they may give perspective as to efforts prior to Jan 21. Additionally, Templates cannot be archived</a:t>
            </a:r>
          </a:p>
        </p:txBody>
      </p:sp>
    </p:spTree>
    <p:extLst>
      <p:ext uri="{BB962C8B-B14F-4D97-AF65-F5344CB8AC3E}">
        <p14:creationId xmlns:p14="http://schemas.microsoft.com/office/powerpoint/2010/main" val="2544823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Title 1">
            <a:extLst>
              <a:ext uri="{FF2B5EF4-FFF2-40B4-BE49-F238E27FC236}">
                <a16:creationId xmlns:a16="http://schemas.microsoft.com/office/drawing/2014/main" id="{266297C9-4C96-4E41-B27E-45C3859734F2}"/>
              </a:ext>
            </a:extLst>
          </p:cNvPr>
          <p:cNvSpPr txBox="1">
            <a:spLocks/>
          </p:cNvSpPr>
          <p:nvPr/>
        </p:nvSpPr>
        <p:spPr>
          <a:xfrm>
            <a:off x="1524000" y="1122363"/>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Helvetica" pitchFamily="2" charset="0"/>
                <a:cs typeface="Calibri Light"/>
              </a:rPr>
              <a:t>Snippets</a:t>
            </a:r>
            <a:endParaRPr lang="en-US" sz="3600" dirty="0">
              <a:latin typeface="Helvetica" pitchFamily="2" charset="0"/>
            </a:endParaRPr>
          </a:p>
        </p:txBody>
      </p:sp>
      <p:sp>
        <p:nvSpPr>
          <p:cNvPr id="7" name="Subtitle 2">
            <a:extLst>
              <a:ext uri="{FF2B5EF4-FFF2-40B4-BE49-F238E27FC236}">
                <a16:creationId xmlns:a16="http://schemas.microsoft.com/office/drawing/2014/main" id="{7FAD9B93-D64B-E440-96A1-1D1B28847FF8}"/>
              </a:ext>
            </a:extLst>
          </p:cNvPr>
          <p:cNvSpPr txBox="1">
            <a:spLocks/>
          </p:cNvSpPr>
          <p:nvPr/>
        </p:nvSpPr>
        <p:spPr>
          <a:xfrm>
            <a:off x="1523999" y="2074868"/>
            <a:ext cx="9025289" cy="2449006"/>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latin typeface="Helvetica" pitchFamily="2" charset="0"/>
                <a:cs typeface="Calibri"/>
              </a:rPr>
              <a:t>There are a handful of snippets that are used to generate emails in Iterable.</a:t>
            </a:r>
          </a:p>
          <a:p>
            <a:pPr algn="l"/>
            <a:endParaRPr lang="en-US" sz="2800" dirty="0">
              <a:latin typeface="Helvetica" pitchFamily="2" charset="0"/>
              <a:cs typeface="Calibri"/>
            </a:endParaRPr>
          </a:p>
        </p:txBody>
      </p:sp>
      <p:sp>
        <p:nvSpPr>
          <p:cNvPr id="5" name="Rectangle 4">
            <a:extLst>
              <a:ext uri="{FF2B5EF4-FFF2-40B4-BE49-F238E27FC236}">
                <a16:creationId xmlns:a16="http://schemas.microsoft.com/office/drawing/2014/main" id="{F39CA6B7-0690-EA40-B5B3-60D98C346FAC}"/>
              </a:ext>
            </a:extLst>
          </p:cNvPr>
          <p:cNvSpPr/>
          <p:nvPr/>
        </p:nvSpPr>
        <p:spPr>
          <a:xfrm>
            <a:off x="1523999" y="4523874"/>
            <a:ext cx="8648700" cy="1210345"/>
          </a:xfrm>
          <a:prstGeom prst="rect">
            <a:avLst/>
          </a:prstGeom>
        </p:spPr>
        <p:txBody>
          <a:bodyPr numCol="3">
            <a:noAutofit/>
          </a:bodyPr>
          <a:lstStyle/>
          <a:p>
            <a:pPr fontAlgn="b"/>
            <a:r>
              <a:rPr lang="en-US" u="sng" dirty="0">
                <a:hlinkClick r:id="rId2"/>
              </a:rPr>
              <a:t>*interstial_depricated</a:t>
            </a:r>
            <a:endParaRPr lang="en-US" dirty="0"/>
          </a:p>
          <a:p>
            <a:pPr fontAlgn="b"/>
            <a:r>
              <a:rPr lang="en-US" u="sng" dirty="0">
                <a:hlinkClick r:id="rId3"/>
              </a:rPr>
              <a:t>interstitial_update</a:t>
            </a:r>
            <a:endParaRPr lang="en-US" dirty="0"/>
          </a:p>
          <a:p>
            <a:pPr fontAlgn="b"/>
            <a:r>
              <a:rPr lang="en-US" u="sng" dirty="0">
                <a:hlinkClick r:id="rId4"/>
              </a:rPr>
              <a:t>markup_close</a:t>
            </a:r>
            <a:endParaRPr lang="en-US" dirty="0"/>
          </a:p>
          <a:p>
            <a:pPr fontAlgn="b"/>
            <a:r>
              <a:rPr lang="en-US" u="sng" dirty="0">
                <a:hlinkClick r:id="rId5"/>
              </a:rPr>
              <a:t>body</a:t>
            </a:r>
            <a:endParaRPr lang="en-US" dirty="0"/>
          </a:p>
          <a:p>
            <a:pPr fontAlgn="b"/>
            <a:r>
              <a:rPr lang="en-US" u="sng" dirty="0">
                <a:hlinkClick r:id="rId6"/>
              </a:rPr>
              <a:t>content</a:t>
            </a:r>
            <a:endParaRPr lang="en-US" dirty="0"/>
          </a:p>
          <a:p>
            <a:pPr fontAlgn="b"/>
            <a:r>
              <a:rPr lang="en-US" u="sng" dirty="0">
                <a:hlinkClick r:id="rId7"/>
              </a:rPr>
              <a:t>secondary_main</a:t>
            </a:r>
            <a:endParaRPr lang="en-US" dirty="0"/>
          </a:p>
          <a:p>
            <a:pPr fontAlgn="b"/>
            <a:r>
              <a:rPr lang="en-US" u="sng" dirty="0">
                <a:hlinkClick r:id="rId8"/>
              </a:rPr>
              <a:t>interstitial</a:t>
            </a:r>
            <a:endParaRPr lang="en-US" dirty="0"/>
          </a:p>
          <a:p>
            <a:pPr fontAlgn="b"/>
            <a:r>
              <a:rPr lang="en-US" u="sng" dirty="0">
                <a:hlinkClick r:id="rId9"/>
              </a:rPr>
              <a:t>footer</a:t>
            </a:r>
            <a:endParaRPr lang="en-US" dirty="0"/>
          </a:p>
          <a:p>
            <a:pPr fontAlgn="b"/>
            <a:r>
              <a:rPr lang="en-US" u="sng" dirty="0">
                <a:hlinkClick r:id="rId10"/>
              </a:rPr>
              <a:t>head</a:t>
            </a:r>
            <a:endParaRPr lang="en-US" dirty="0"/>
          </a:p>
          <a:p>
            <a:pPr fontAlgn="b"/>
            <a:r>
              <a:rPr lang="en-US" u="sng" dirty="0">
                <a:hlinkClick r:id="rId11"/>
              </a:rPr>
              <a:t>style</a:t>
            </a:r>
            <a:endParaRPr lang="en-US" dirty="0"/>
          </a:p>
          <a:p>
            <a:pPr fontAlgn="b"/>
            <a:r>
              <a:rPr lang="en-US" u="sng" dirty="0">
                <a:hlinkClick r:id="rId12"/>
              </a:rPr>
              <a:t>header</a:t>
            </a:r>
            <a:endParaRPr lang="en-US" dirty="0"/>
          </a:p>
        </p:txBody>
      </p:sp>
    </p:spTree>
    <p:extLst>
      <p:ext uri="{BB962C8B-B14F-4D97-AF65-F5344CB8AC3E}">
        <p14:creationId xmlns:p14="http://schemas.microsoft.com/office/powerpoint/2010/main" val="295891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Title 1">
            <a:extLst>
              <a:ext uri="{FF2B5EF4-FFF2-40B4-BE49-F238E27FC236}">
                <a16:creationId xmlns:a16="http://schemas.microsoft.com/office/drawing/2014/main" id="{266297C9-4C96-4E41-B27E-45C3859734F2}"/>
              </a:ext>
            </a:extLst>
          </p:cNvPr>
          <p:cNvSpPr txBox="1">
            <a:spLocks/>
          </p:cNvSpPr>
          <p:nvPr/>
        </p:nvSpPr>
        <p:spPr>
          <a:xfrm>
            <a:off x="1524000" y="1122363"/>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Helvetica" pitchFamily="2" charset="0"/>
                <a:cs typeface="Calibri Light"/>
              </a:rPr>
              <a:t>User Fields</a:t>
            </a:r>
            <a:endParaRPr lang="en-US" sz="3600" dirty="0">
              <a:latin typeface="Helvetica" pitchFamily="2" charset="0"/>
            </a:endParaRPr>
          </a:p>
        </p:txBody>
      </p:sp>
      <p:sp>
        <p:nvSpPr>
          <p:cNvPr id="7" name="Subtitle 2">
            <a:extLst>
              <a:ext uri="{FF2B5EF4-FFF2-40B4-BE49-F238E27FC236}">
                <a16:creationId xmlns:a16="http://schemas.microsoft.com/office/drawing/2014/main" id="{7FAD9B93-D64B-E440-96A1-1D1B28847FF8}"/>
              </a:ext>
            </a:extLst>
          </p:cNvPr>
          <p:cNvSpPr txBox="1">
            <a:spLocks/>
          </p:cNvSpPr>
          <p:nvPr/>
        </p:nvSpPr>
        <p:spPr>
          <a:xfrm>
            <a:off x="1523999" y="2074868"/>
            <a:ext cx="8226393" cy="244900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latin typeface="Helvetica" pitchFamily="2" charset="0"/>
                <a:cs typeface="Calibri"/>
              </a:rPr>
              <a:t>User fields are the data points that are directly connected to a user. It is distinct from a Custom Event in that it’s a signal piece of data that can be used for analysis, and paired against all users via export.</a:t>
            </a:r>
          </a:p>
          <a:p>
            <a:pPr algn="l"/>
            <a:r>
              <a:rPr lang="en-US" dirty="0">
                <a:latin typeface="Helvetica" pitchFamily="2" charset="0"/>
                <a:cs typeface="Calibri"/>
              </a:rPr>
              <a:t>The basis for the fields can be seen via the following documents examples use </a:t>
            </a:r>
            <a:r>
              <a:rPr lang="en-US" dirty="0">
                <a:latin typeface="Helvetica" pitchFamily="2" charset="0"/>
                <a:cs typeface="Calibri"/>
                <a:hlinkClick r:id="rId2"/>
              </a:rPr>
              <a:t>here</a:t>
            </a:r>
            <a:r>
              <a:rPr lang="en-US" dirty="0">
                <a:latin typeface="Helvetica" pitchFamily="2" charset="0"/>
                <a:cs typeface="Calibri"/>
              </a:rPr>
              <a:t> </a:t>
            </a:r>
            <a:r>
              <a:rPr lang="en-US" b="1" dirty="0">
                <a:latin typeface="Helvetica" pitchFamily="2" charset="0"/>
                <a:cs typeface="Calibri"/>
              </a:rPr>
              <a:t>(Fields starting with ‘Z*’ are custom fields that only exist in Iterable)</a:t>
            </a:r>
            <a:r>
              <a:rPr lang="en-US" dirty="0">
                <a:latin typeface="Helvetica" pitchFamily="2" charset="0"/>
                <a:cs typeface="Calibri"/>
              </a:rPr>
              <a:t>:</a:t>
            </a:r>
          </a:p>
          <a:p>
            <a:pPr algn="l"/>
            <a:r>
              <a:rPr lang="en-US" sz="1800" dirty="0">
                <a:latin typeface="Helvetica" pitchFamily="2" charset="0"/>
                <a:cs typeface="Calibri"/>
                <a:hlinkClick r:id="rId3"/>
              </a:rPr>
              <a:t>https://verifly-my.sharepoint.com/:x:/p/chris/ESX5p5W-x89EpNy_c4EdbjsBdd5TQh_23MTeMISQoAlBhA?e=iV8j6Z</a:t>
            </a:r>
            <a:endParaRPr lang="en-US" sz="1800" dirty="0">
              <a:latin typeface="Helvetica" pitchFamily="2" charset="0"/>
              <a:cs typeface="Calibri"/>
            </a:endParaRPr>
          </a:p>
          <a:p>
            <a:pPr algn="l"/>
            <a:r>
              <a:rPr lang="en-US" sz="1800" dirty="0">
                <a:latin typeface="Helvetica" pitchFamily="2" charset="0"/>
                <a:hlinkClick r:id="rId4"/>
              </a:rPr>
              <a:t>https://docs.google.com/spreadsheets/d/10awQZeprn6CoUlNglwIqUyqX9le_jcRDL0sE4UZiVnw/edit#gid=53530248</a:t>
            </a:r>
            <a:endParaRPr lang="en-US" sz="1800" dirty="0">
              <a:latin typeface="Helvetica" pitchFamily="2" charset="0"/>
              <a:cs typeface="Calibri"/>
            </a:endParaRPr>
          </a:p>
          <a:p>
            <a:pPr algn="l"/>
            <a:r>
              <a:rPr lang="en-US" sz="1800" dirty="0">
                <a:latin typeface="Helvetica" pitchFamily="2" charset="0"/>
                <a:hlinkClick r:id="rId5"/>
              </a:rPr>
              <a:t>https://support.iterable.com/hc/en-us/articles/206430145-Contact-properties</a:t>
            </a:r>
            <a:endParaRPr lang="en-US" sz="1800" dirty="0">
              <a:latin typeface="Helvetica" pitchFamily="2" charset="0"/>
              <a:cs typeface="Calibri"/>
            </a:endParaRPr>
          </a:p>
        </p:txBody>
      </p:sp>
    </p:spTree>
    <p:extLst>
      <p:ext uri="{BB962C8B-B14F-4D97-AF65-F5344CB8AC3E}">
        <p14:creationId xmlns:p14="http://schemas.microsoft.com/office/powerpoint/2010/main" val="1200990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p>
        </p:txBody>
      </p:sp>
      <p:sp>
        <p:nvSpPr>
          <p:cNvPr id="3" name="Title 1">
            <a:extLst>
              <a:ext uri="{FF2B5EF4-FFF2-40B4-BE49-F238E27FC236}">
                <a16:creationId xmlns:a16="http://schemas.microsoft.com/office/drawing/2014/main" id="{266297C9-4C96-4E41-B27E-45C3859734F2}"/>
              </a:ext>
            </a:extLst>
          </p:cNvPr>
          <p:cNvSpPr txBox="1">
            <a:spLocks/>
          </p:cNvSpPr>
          <p:nvPr/>
        </p:nvSpPr>
        <p:spPr>
          <a:xfrm>
            <a:off x="1524000" y="1122363"/>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Helvetica" pitchFamily="2" charset="0"/>
                <a:cs typeface="Calibri Light"/>
              </a:rPr>
              <a:t>Custom Events</a:t>
            </a:r>
            <a:endParaRPr lang="en-US" sz="3600" dirty="0">
              <a:latin typeface="Helvetica" pitchFamily="2" charset="0"/>
            </a:endParaRPr>
          </a:p>
        </p:txBody>
      </p:sp>
      <p:sp>
        <p:nvSpPr>
          <p:cNvPr id="7" name="Subtitle 2">
            <a:extLst>
              <a:ext uri="{FF2B5EF4-FFF2-40B4-BE49-F238E27FC236}">
                <a16:creationId xmlns:a16="http://schemas.microsoft.com/office/drawing/2014/main" id="{7FAD9B93-D64B-E440-96A1-1D1B28847FF8}"/>
              </a:ext>
            </a:extLst>
          </p:cNvPr>
          <p:cNvSpPr txBox="1">
            <a:spLocks/>
          </p:cNvSpPr>
          <p:nvPr/>
        </p:nvSpPr>
        <p:spPr>
          <a:xfrm>
            <a:off x="1523999" y="2074868"/>
            <a:ext cx="9025289" cy="244900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US" dirty="0">
                <a:latin typeface="Helvetica" pitchFamily="2" charset="0"/>
                <a:cs typeface="Calibri"/>
              </a:rPr>
              <a:t>Custom Events are similar to User Fields however it is oriented more towards the event rather than the user. For example, an event can be triggered anytime a user ”Buys a policy” and a JSON call. However, the ‘data’ for that event can only be seen on the User level Events tab within Iterable</a:t>
            </a:r>
          </a:p>
          <a:p>
            <a:pPr algn="l">
              <a:lnSpc>
                <a:spcPct val="100000"/>
              </a:lnSpc>
            </a:pPr>
            <a:r>
              <a:rPr lang="en-US" dirty="0">
                <a:latin typeface="Helvetica" pitchFamily="2" charset="0"/>
                <a:cs typeface="Calibri"/>
              </a:rPr>
              <a:t>Technically, a Custom Event can be used to update user fields however; this must largely be managed by the dev team. </a:t>
            </a:r>
          </a:p>
          <a:p>
            <a:pPr algn="l">
              <a:lnSpc>
                <a:spcPct val="100000"/>
              </a:lnSpc>
            </a:pPr>
            <a:r>
              <a:rPr lang="en-US" dirty="0">
                <a:latin typeface="Helvetica" pitchFamily="2" charset="0"/>
                <a:cs typeface="Calibri"/>
              </a:rPr>
              <a:t>Additionally, Custom Events are a bit more cumbersome to evaluate if the data is sound owing to the way it is organized. </a:t>
            </a:r>
          </a:p>
          <a:p>
            <a:pPr algn="l">
              <a:lnSpc>
                <a:spcPct val="100000"/>
              </a:lnSpc>
            </a:pPr>
            <a:r>
              <a:rPr lang="en-US" dirty="0">
                <a:hlinkClick r:id="rId2"/>
              </a:rPr>
              <a:t>https://sketch.cloud/s/1eYOb</a:t>
            </a:r>
            <a:r>
              <a:rPr lang="en-US" dirty="0"/>
              <a:t> / </a:t>
            </a:r>
            <a:r>
              <a:rPr lang="en-US" dirty="0">
                <a:hlinkClick r:id="rId3"/>
              </a:rPr>
              <a:t>https://sketch.cloud/s/8AZwY</a:t>
            </a:r>
            <a:endParaRPr lang="en-US" dirty="0">
              <a:latin typeface="Helvetica" pitchFamily="2" charset="0"/>
              <a:cs typeface="Calibri"/>
            </a:endParaRPr>
          </a:p>
        </p:txBody>
      </p:sp>
    </p:spTree>
    <p:extLst>
      <p:ext uri="{BB962C8B-B14F-4D97-AF65-F5344CB8AC3E}">
        <p14:creationId xmlns:p14="http://schemas.microsoft.com/office/powerpoint/2010/main" val="3244283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14354"/>
            <a:ext cx="9144000" cy="650949"/>
          </a:xfrm>
        </p:spPr>
        <p:txBody>
          <a:bodyPr vert="horz" lIns="91440" tIns="45720" rIns="91440" bIns="45720" rtlCol="0" anchor="t">
            <a:noAutofit/>
          </a:bodyPr>
          <a:lstStyle/>
          <a:p>
            <a:pPr algn="l"/>
            <a:r>
              <a:rPr lang="en-US" sz="4000" dirty="0">
                <a:latin typeface="Helvetica" pitchFamily="2" charset="0"/>
                <a:cs typeface="Calibri Light"/>
              </a:rPr>
              <a:t>Reporting</a:t>
            </a:r>
            <a:endParaRPr lang="en-US" dirty="0"/>
          </a:p>
        </p:txBody>
      </p:sp>
      <p:sp>
        <p:nvSpPr>
          <p:cNvPr id="3" name="Subtitle 2"/>
          <p:cNvSpPr>
            <a:spLocks noGrp="1"/>
          </p:cNvSpPr>
          <p:nvPr>
            <p:ph type="subTitle" idx="1"/>
          </p:nvPr>
        </p:nvSpPr>
        <p:spPr>
          <a:xfrm>
            <a:off x="1524000" y="1421859"/>
            <a:ext cx="9144000" cy="1655762"/>
          </a:xfrm>
        </p:spPr>
        <p:txBody>
          <a:bodyPr vert="horz" lIns="91440" tIns="45720" rIns="91440" bIns="45720" rtlCol="0" anchor="t">
            <a:noAutofit/>
          </a:bodyPr>
          <a:lstStyle/>
          <a:p>
            <a:pPr algn="l"/>
            <a:r>
              <a:rPr lang="en-US" sz="2800" dirty="0">
                <a:cs typeface="Calibri"/>
              </a:rPr>
              <a:t>Here are the ways to analyze data in </a:t>
            </a:r>
            <a:r>
              <a:rPr lang="en-US" sz="2800" dirty="0" err="1">
                <a:cs typeface="Calibri"/>
              </a:rPr>
              <a:t>Iterable</a:t>
            </a:r>
            <a:r>
              <a:rPr lang="en-US" sz="2800" dirty="0">
                <a:cs typeface="Calibri"/>
              </a:rPr>
              <a:t>:</a:t>
            </a:r>
            <a:endParaRPr lang="en-US" dirty="0">
              <a:cs typeface="Calibri"/>
            </a:endParaRPr>
          </a:p>
          <a:p>
            <a:pPr marL="342900" indent="-342900" algn="l">
              <a:buChar char="•"/>
            </a:pPr>
            <a:r>
              <a:rPr lang="en-US" dirty="0">
                <a:cs typeface="Calibri"/>
              </a:rPr>
              <a:t>Create A Dashboard 			(</a:t>
            </a:r>
            <a:r>
              <a:rPr lang="en-US" dirty="0">
                <a:hlinkClick r:id="rId2"/>
              </a:rPr>
              <a:t>https://iterable.com/blog/introducing-iterable-insights/</a:t>
            </a:r>
            <a:r>
              <a:rPr lang="en-US" dirty="0"/>
              <a:t>)</a:t>
            </a:r>
            <a:endParaRPr lang="en-US" dirty="0">
              <a:cs typeface="Calibri"/>
            </a:endParaRPr>
          </a:p>
          <a:p>
            <a:pPr marL="342900" indent="-342900" algn="l">
              <a:buChar char="•"/>
            </a:pPr>
            <a:r>
              <a:rPr lang="en-US" dirty="0">
                <a:cs typeface="Calibri"/>
              </a:rPr>
              <a:t>Run A Report (</a:t>
            </a:r>
            <a:r>
              <a:rPr lang="en-US" dirty="0">
                <a:hlinkClick r:id="rId3"/>
              </a:rPr>
              <a:t>https://support.iterable.com/hc/en-us/sections/201118025-Analytics-and-Reporting</a:t>
            </a:r>
            <a:r>
              <a:rPr lang="en-US" dirty="0"/>
              <a:t>)</a:t>
            </a:r>
            <a:endParaRPr lang="en-US" dirty="0">
              <a:cs typeface="Calibri"/>
            </a:endParaRPr>
          </a:p>
          <a:p>
            <a:pPr algn="l"/>
            <a:endParaRPr lang="en-US" sz="2800" dirty="0">
              <a:cs typeface="Calibri"/>
            </a:endParaRPr>
          </a:p>
        </p:txBody>
      </p:sp>
      <p:sp>
        <p:nvSpPr>
          <p:cNvPr id="5" name="Title 1">
            <a:extLst>
              <a:ext uri="{FF2B5EF4-FFF2-40B4-BE49-F238E27FC236}">
                <a16:creationId xmlns:a16="http://schemas.microsoft.com/office/drawing/2014/main" id="{56D2F285-1E5A-804F-996D-BF9B4F14C75A}"/>
              </a:ext>
            </a:extLst>
          </p:cNvPr>
          <p:cNvSpPr txBox="1">
            <a:spLocks/>
          </p:cNvSpPr>
          <p:nvPr/>
        </p:nvSpPr>
        <p:spPr>
          <a:xfrm>
            <a:off x="0" y="-2052"/>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latin typeface="Helvetica" pitchFamily="2" charset="0"/>
            </a:endParaRPr>
          </a:p>
        </p:txBody>
      </p:sp>
      <p:sp>
        <p:nvSpPr>
          <p:cNvPr id="6" name="Title 1">
            <a:extLst>
              <a:ext uri="{FF2B5EF4-FFF2-40B4-BE49-F238E27FC236}">
                <a16:creationId xmlns:a16="http://schemas.microsoft.com/office/drawing/2014/main" id="{65684AA0-CC9C-344F-B658-EC7879F1ECA4}"/>
              </a:ext>
            </a:extLst>
          </p:cNvPr>
          <p:cNvSpPr txBox="1">
            <a:spLocks/>
          </p:cNvSpPr>
          <p:nvPr/>
        </p:nvSpPr>
        <p:spPr>
          <a:xfrm>
            <a:off x="1524000" y="3844708"/>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b="0" i="0" kern="1200">
                <a:solidFill>
                  <a:schemeClr val="tx1"/>
                </a:solidFill>
                <a:latin typeface="Helvetica" pitchFamily="2" charset="0"/>
                <a:ea typeface="+mj-ea"/>
                <a:cs typeface="+mj-cs"/>
              </a:defRPr>
            </a:lvl1pPr>
          </a:lstStyle>
          <a:p>
            <a:pPr algn="l"/>
            <a:r>
              <a:rPr lang="en-US" sz="4000" dirty="0">
                <a:cs typeface="Calibri Light"/>
              </a:rPr>
              <a:t>Data Sources</a:t>
            </a:r>
            <a:endParaRPr lang="en-US" dirty="0"/>
          </a:p>
        </p:txBody>
      </p:sp>
      <p:sp>
        <p:nvSpPr>
          <p:cNvPr id="7" name="Subtitle 2">
            <a:extLst>
              <a:ext uri="{FF2B5EF4-FFF2-40B4-BE49-F238E27FC236}">
                <a16:creationId xmlns:a16="http://schemas.microsoft.com/office/drawing/2014/main" id="{C332F30C-3D25-2442-A10E-869994C33BDF}"/>
              </a:ext>
            </a:extLst>
          </p:cNvPr>
          <p:cNvSpPr txBox="1">
            <a:spLocks/>
          </p:cNvSpPr>
          <p:nvPr/>
        </p:nvSpPr>
        <p:spPr>
          <a:xfrm>
            <a:off x="1524000" y="4471464"/>
            <a:ext cx="9144000" cy="1655762"/>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There are two primary ways to get data in/out of Iterable.</a:t>
            </a:r>
          </a:p>
          <a:p>
            <a:pPr algn="l"/>
            <a:r>
              <a:rPr lang="en-US" sz="2800" dirty="0">
                <a:cs typeface="Calibri"/>
              </a:rPr>
              <a:t>The Data Science point owns how these work. </a:t>
            </a:r>
            <a:endParaRPr lang="en-US" dirty="0">
              <a:cs typeface="Calibri"/>
            </a:endParaRPr>
          </a:p>
          <a:p>
            <a:pPr marL="342900" indent="-342900" algn="l">
              <a:buFont typeface="Arial" panose="020B0604020202020204" pitchFamily="34" charset="0"/>
              <a:buChar char="•"/>
            </a:pPr>
            <a:r>
              <a:rPr lang="en-US" dirty="0">
                <a:cs typeface="Calibri"/>
              </a:rPr>
              <a:t>Integration with Segment</a:t>
            </a:r>
          </a:p>
          <a:p>
            <a:pPr marL="342900" indent="-342900" algn="l">
              <a:buFont typeface="Arial" panose="020B0604020202020204" pitchFamily="34" charset="0"/>
              <a:buChar char="•"/>
            </a:pPr>
            <a:r>
              <a:rPr lang="en-US" dirty="0">
                <a:cs typeface="Calibri"/>
              </a:rPr>
              <a:t>Data feed from Looker</a:t>
            </a:r>
          </a:p>
          <a:p>
            <a:pPr marL="342900" indent="-342900" algn="l">
              <a:buFont typeface="Arial" panose="020B0604020202020204" pitchFamily="34" charset="0"/>
              <a:buChar char="•"/>
            </a:pPr>
            <a:endParaRPr lang="en-US" dirty="0">
              <a:cs typeface="Calibri"/>
            </a:endParaRPr>
          </a:p>
          <a:p>
            <a:pPr marL="342900" indent="-342900" algn="l">
              <a:buFont typeface="Arial" panose="020B0604020202020204" pitchFamily="34" charset="0"/>
              <a:buChar char="•"/>
            </a:pPr>
            <a:endParaRPr lang="en-US" dirty="0">
              <a:cs typeface="Calibri"/>
            </a:endParaRPr>
          </a:p>
          <a:p>
            <a:pPr algn="l"/>
            <a:endParaRPr lang="en-US" sz="2800" dirty="0">
              <a:cs typeface="Calibri"/>
            </a:endParaRPr>
          </a:p>
        </p:txBody>
      </p:sp>
    </p:spTree>
    <p:extLst>
      <p:ext uri="{BB962C8B-B14F-4D97-AF65-F5344CB8AC3E}">
        <p14:creationId xmlns:p14="http://schemas.microsoft.com/office/powerpoint/2010/main" val="1369334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650949"/>
          </a:xfrm>
        </p:spPr>
        <p:txBody>
          <a:bodyPr vert="horz" lIns="91440" tIns="45720" rIns="91440" bIns="45720" rtlCol="0" anchor="t">
            <a:noAutofit/>
          </a:bodyPr>
          <a:lstStyle/>
          <a:p>
            <a:pPr algn="l"/>
            <a:r>
              <a:rPr lang="en-US" sz="4000" dirty="0">
                <a:latin typeface="Helvetica" pitchFamily="2" charset="0"/>
                <a:cs typeface="Calibri Light"/>
              </a:rPr>
              <a:t>Key Documents</a:t>
            </a:r>
          </a:p>
        </p:txBody>
      </p:sp>
      <p:sp>
        <p:nvSpPr>
          <p:cNvPr id="3" name="Subtitle 2"/>
          <p:cNvSpPr>
            <a:spLocks noGrp="1"/>
          </p:cNvSpPr>
          <p:nvPr>
            <p:ph type="subTitle" idx="1"/>
          </p:nvPr>
        </p:nvSpPr>
        <p:spPr>
          <a:xfrm>
            <a:off x="1523999" y="1874247"/>
            <a:ext cx="9579429" cy="3861390"/>
          </a:xfrm>
        </p:spPr>
        <p:txBody>
          <a:bodyPr vert="horz" lIns="91440" tIns="45720" rIns="91440" bIns="45720" rtlCol="0" anchor="t">
            <a:noAutofit/>
          </a:bodyPr>
          <a:lstStyle/>
          <a:p>
            <a:pPr marL="342900" indent="-342900" algn="l">
              <a:buChar char="•"/>
            </a:pPr>
            <a:r>
              <a:rPr lang="en-US" dirty="0">
                <a:cs typeface="Calibri"/>
              </a:rPr>
              <a:t>Iterable Onboarding Deck:</a:t>
            </a:r>
          </a:p>
          <a:p>
            <a:pPr lvl="1" algn="l"/>
            <a:r>
              <a:rPr lang="en-US" sz="1200" dirty="0">
                <a:hlinkClick r:id="rId2"/>
              </a:rPr>
              <a:t>https://docs.google.com/presentation/d/1R5Hp8PZbETYxxz2QlaMhwSFMJ8UxhfYKmggGBLG3s0k/edit#slide=id.p33</a:t>
            </a:r>
            <a:endParaRPr lang="en-US" sz="1200" dirty="0"/>
          </a:p>
          <a:p>
            <a:pPr marL="342900" indent="-342900" algn="l">
              <a:buChar char="•"/>
            </a:pPr>
            <a:r>
              <a:rPr lang="en-US" dirty="0">
                <a:cs typeface="Calibri"/>
              </a:rPr>
              <a:t>Iterable Planning Doc: </a:t>
            </a:r>
          </a:p>
          <a:p>
            <a:pPr lvl="1" algn="l"/>
            <a:r>
              <a:rPr lang="en-US" sz="1200" dirty="0">
                <a:hlinkClick r:id="rId3"/>
              </a:rPr>
              <a:t>https://docs.google.com/presentation/d/1ulj7jf6dMS1vG8wJIvWHhipjYeTC-rgudCXKE1WFG-o/edit#slide=id.g3cfe6a73a8_2_1077</a:t>
            </a:r>
            <a:endParaRPr lang="en-US" sz="1200" dirty="0"/>
          </a:p>
          <a:p>
            <a:pPr marL="342900" indent="-342900" algn="l">
              <a:buChar char="•"/>
            </a:pPr>
            <a:r>
              <a:rPr lang="en-US" dirty="0">
                <a:cs typeface="Calibri"/>
              </a:rPr>
              <a:t>Iterable Planning Doc: </a:t>
            </a:r>
          </a:p>
          <a:p>
            <a:pPr lvl="1" algn="l"/>
            <a:r>
              <a:rPr lang="en-US" sz="1200" dirty="0">
                <a:hlinkClick r:id="rId3"/>
              </a:rPr>
              <a:t>https://docs.google.com/presentation/d/1ulj7jf6dMS1vG8wJIvWHhipjYeTC-rgudCXKE1WFG-o/edit#slide=id.g3cfe6a73a8_2_1077</a:t>
            </a:r>
            <a:endParaRPr lang="en-US" sz="1000" dirty="0">
              <a:cs typeface="Calibri"/>
            </a:endParaRPr>
          </a:p>
          <a:p>
            <a:pPr marL="342900" indent="-342900" algn="l">
              <a:buChar char="•"/>
            </a:pPr>
            <a:r>
              <a:rPr lang="en-US" dirty="0">
                <a:cs typeface="Calibri"/>
              </a:rPr>
              <a:t>Segment-Iterable Doc: </a:t>
            </a:r>
          </a:p>
          <a:p>
            <a:pPr lvl="1" algn="l"/>
            <a:r>
              <a:rPr lang="en-US" sz="1200" dirty="0">
                <a:hlinkClick r:id="rId4"/>
              </a:rPr>
              <a:t>https://www.processon.com/view/link/5d084eb9e4b024123dde5a5f</a:t>
            </a:r>
            <a:endParaRPr lang="en-US" sz="1000" dirty="0">
              <a:cs typeface="Calibri"/>
            </a:endParaRPr>
          </a:p>
          <a:p>
            <a:pPr lvl="1" algn="l"/>
            <a:endParaRPr lang="en-US" sz="1000" dirty="0">
              <a:cs typeface="Calibri"/>
            </a:endParaRPr>
          </a:p>
        </p:txBody>
      </p:sp>
      <p:sp>
        <p:nvSpPr>
          <p:cNvPr id="4" name="Title 1">
            <a:extLst>
              <a:ext uri="{FF2B5EF4-FFF2-40B4-BE49-F238E27FC236}">
                <a16:creationId xmlns:a16="http://schemas.microsoft.com/office/drawing/2014/main" id="{4F41B17F-5ADA-A34C-99F3-D82369091251}"/>
              </a:ext>
            </a:extLst>
          </p:cNvPr>
          <p:cNvSpPr txBox="1">
            <a:spLocks/>
          </p:cNvSpPr>
          <p:nvPr/>
        </p:nvSpPr>
        <p:spPr>
          <a:xfrm>
            <a:off x="0" y="-2052"/>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latin typeface="Helvetica" pitchFamily="2" charset="0"/>
            </a:endParaRPr>
          </a:p>
        </p:txBody>
      </p:sp>
    </p:spTree>
    <p:extLst>
      <p:ext uri="{BB962C8B-B14F-4D97-AF65-F5344CB8AC3E}">
        <p14:creationId xmlns:p14="http://schemas.microsoft.com/office/powerpoint/2010/main" val="257396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650949"/>
          </a:xfrm>
        </p:spPr>
        <p:txBody>
          <a:bodyPr vert="horz" lIns="91440" tIns="45720" rIns="91440" bIns="45720" rtlCol="0" anchor="t">
            <a:noAutofit/>
          </a:bodyPr>
          <a:lstStyle/>
          <a:p>
            <a:pPr algn="l"/>
            <a:r>
              <a:rPr lang="en-US" sz="4000" dirty="0">
                <a:latin typeface="Helvetica" pitchFamily="2" charset="0"/>
                <a:cs typeface="Calibri Light"/>
              </a:rPr>
              <a:t>Best Practices and FYI</a:t>
            </a:r>
          </a:p>
        </p:txBody>
      </p:sp>
      <p:sp>
        <p:nvSpPr>
          <p:cNvPr id="3" name="Subtitle 2"/>
          <p:cNvSpPr>
            <a:spLocks noGrp="1"/>
          </p:cNvSpPr>
          <p:nvPr>
            <p:ph type="subTitle" idx="1"/>
          </p:nvPr>
        </p:nvSpPr>
        <p:spPr>
          <a:xfrm>
            <a:off x="1523999" y="1874247"/>
            <a:ext cx="9579429" cy="3861390"/>
          </a:xfrm>
        </p:spPr>
        <p:txBody>
          <a:bodyPr vert="horz" lIns="91440" tIns="45720" rIns="91440" bIns="45720" rtlCol="0" anchor="t">
            <a:noAutofit/>
          </a:bodyPr>
          <a:lstStyle/>
          <a:p>
            <a:pPr marL="342900" indent="-342900" algn="l">
              <a:lnSpc>
                <a:spcPct val="100000"/>
              </a:lnSpc>
              <a:buChar char="•"/>
            </a:pPr>
            <a:r>
              <a:rPr lang="en-US" dirty="0">
                <a:cs typeface="Calibri"/>
              </a:rPr>
              <a:t>CRM Best Practices</a:t>
            </a:r>
          </a:p>
          <a:p>
            <a:pPr lvl="1" algn="l">
              <a:lnSpc>
                <a:spcPct val="100000"/>
              </a:lnSpc>
            </a:pPr>
            <a:r>
              <a:rPr lang="en-US" sz="1200" dirty="0">
                <a:hlinkClick r:id="rId2"/>
              </a:rPr>
              <a:t>https://www.salesforce.com/crm/best-practices/</a:t>
            </a:r>
            <a:endParaRPr lang="en-US" sz="1200" dirty="0"/>
          </a:p>
          <a:p>
            <a:pPr lvl="1" algn="l">
              <a:lnSpc>
                <a:spcPct val="100000"/>
              </a:lnSpc>
            </a:pPr>
            <a:r>
              <a:rPr lang="en-US" sz="1200" dirty="0">
                <a:hlinkClick r:id="rId3"/>
              </a:rPr>
              <a:t>https://www.cio.com/article/3085630/11-crm-best-practices.html</a:t>
            </a:r>
            <a:endParaRPr lang="en-US" sz="1200" dirty="0"/>
          </a:p>
          <a:p>
            <a:pPr lvl="1" algn="l">
              <a:lnSpc>
                <a:spcPct val="100000"/>
              </a:lnSpc>
            </a:pPr>
            <a:r>
              <a:rPr lang="en-US" sz="1200" dirty="0">
                <a:hlinkClick r:id="rId4"/>
              </a:rPr>
              <a:t>https://keap.com/product/crm-best-practices</a:t>
            </a:r>
            <a:endParaRPr lang="en-US" sz="1200" dirty="0"/>
          </a:p>
          <a:p>
            <a:pPr marL="342900" indent="-342900" algn="l">
              <a:lnSpc>
                <a:spcPct val="100000"/>
              </a:lnSpc>
              <a:buChar char="•"/>
            </a:pPr>
            <a:r>
              <a:rPr lang="en-US" dirty="0">
                <a:cs typeface="Calibri"/>
              </a:rPr>
              <a:t>4P’s of Marketing (Product, Price, Placement, Promotion)</a:t>
            </a:r>
          </a:p>
          <a:p>
            <a:pPr lvl="1" algn="l">
              <a:lnSpc>
                <a:spcPct val="100000"/>
              </a:lnSpc>
            </a:pPr>
            <a:r>
              <a:rPr lang="en-US" sz="1200" dirty="0">
                <a:hlinkClick r:id="rId5"/>
              </a:rPr>
              <a:t>https://blog.capterra.com/understanding-the-marketing-mix-the-4-ps-of-marketing/</a:t>
            </a:r>
            <a:endParaRPr lang="en-US" sz="1200" dirty="0">
              <a:cs typeface="Calibri"/>
            </a:endParaRPr>
          </a:p>
          <a:p>
            <a:pPr marL="342900" indent="-342900" algn="l">
              <a:lnSpc>
                <a:spcPct val="100000"/>
              </a:lnSpc>
              <a:buChar char="•"/>
            </a:pPr>
            <a:r>
              <a:rPr lang="en-US" dirty="0">
                <a:cs typeface="Calibri"/>
              </a:rPr>
              <a:t>Email Benchmarks by Industry</a:t>
            </a:r>
          </a:p>
          <a:p>
            <a:pPr lvl="1" algn="l">
              <a:lnSpc>
                <a:spcPct val="100000"/>
              </a:lnSpc>
            </a:pPr>
            <a:r>
              <a:rPr lang="en-US" sz="1200" dirty="0">
                <a:hlinkClick r:id="rId6"/>
              </a:rPr>
              <a:t>https://mailchimp.com/resources/email-marketing-benchmarks/</a:t>
            </a:r>
            <a:r>
              <a:rPr lang="en-US" sz="1200" dirty="0"/>
              <a:t> </a:t>
            </a:r>
          </a:p>
          <a:p>
            <a:pPr lvl="1" algn="l">
              <a:lnSpc>
                <a:spcPct val="100000"/>
              </a:lnSpc>
            </a:pPr>
            <a:r>
              <a:rPr lang="en-US" sz="1200" dirty="0">
                <a:hlinkClick r:id="rId7"/>
              </a:rPr>
              <a:t>https://www.campaignmonitor.com/resources/guides/email-marketing-benchmarks/</a:t>
            </a:r>
            <a:endParaRPr lang="en-US" sz="1200" dirty="0"/>
          </a:p>
          <a:p>
            <a:pPr lvl="1" algn="l">
              <a:lnSpc>
                <a:spcPct val="100000"/>
              </a:lnSpc>
            </a:pPr>
            <a:r>
              <a:rPr lang="en-US" sz="1200" dirty="0">
                <a:hlinkClick r:id="rId8"/>
              </a:rPr>
              <a:t>https://www.smartinsights.com/email-marketing/email-communications-strategy/statistics-sources-for-email-marketing/</a:t>
            </a:r>
            <a:endParaRPr lang="en-US" sz="1200" dirty="0">
              <a:cs typeface="Calibri"/>
            </a:endParaRPr>
          </a:p>
        </p:txBody>
      </p:sp>
      <p:sp>
        <p:nvSpPr>
          <p:cNvPr id="4" name="Title 1">
            <a:extLst>
              <a:ext uri="{FF2B5EF4-FFF2-40B4-BE49-F238E27FC236}">
                <a16:creationId xmlns:a16="http://schemas.microsoft.com/office/drawing/2014/main" id="{4F41B17F-5ADA-A34C-99F3-D82369091251}"/>
              </a:ext>
            </a:extLst>
          </p:cNvPr>
          <p:cNvSpPr txBox="1">
            <a:spLocks/>
          </p:cNvSpPr>
          <p:nvPr/>
        </p:nvSpPr>
        <p:spPr>
          <a:xfrm>
            <a:off x="0" y="-2052"/>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a:latin typeface="Helvetica" pitchFamily="2" charset="0"/>
                <a:cs typeface="Calibri Light"/>
              </a:rPr>
              <a:t>   Iterable</a:t>
            </a:r>
            <a:r>
              <a:rPr lang="en-US" sz="3200" dirty="0">
                <a:latin typeface="Helvetica" pitchFamily="2" charset="0"/>
                <a:cs typeface="Calibri Light"/>
              </a:rPr>
              <a:t> </a:t>
            </a:r>
            <a:endParaRPr lang="en-US" sz="4800" dirty="0">
              <a:latin typeface="Helvetica" pitchFamily="2" charset="0"/>
            </a:endParaRPr>
          </a:p>
        </p:txBody>
      </p:sp>
    </p:spTree>
    <p:extLst>
      <p:ext uri="{BB962C8B-B14F-4D97-AF65-F5344CB8AC3E}">
        <p14:creationId xmlns:p14="http://schemas.microsoft.com/office/powerpoint/2010/main" val="2563840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a:latin typeface="Helvetica" pitchFamily="2" charset="0"/>
                <a:cs typeface="Calibri Light"/>
              </a:rPr>
              <a:t>SendGrid</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2800" dirty="0">
                <a:cs typeface="Calibri"/>
              </a:rPr>
              <a:t>Outgoing Marketing Messages</a:t>
            </a:r>
          </a:p>
        </p:txBody>
      </p:sp>
    </p:spTree>
    <p:extLst>
      <p:ext uri="{BB962C8B-B14F-4D97-AF65-F5344CB8AC3E}">
        <p14:creationId xmlns:p14="http://schemas.microsoft.com/office/powerpoint/2010/main" val="2226589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SendGrid</a:t>
            </a:r>
            <a:endParaRPr lang="en-US" sz="4800" dirty="0"/>
          </a:p>
        </p:txBody>
      </p:sp>
      <p:sp>
        <p:nvSpPr>
          <p:cNvPr id="3" name="Subtitle 2"/>
          <p:cNvSpPr>
            <a:spLocks noGrp="1"/>
          </p:cNvSpPr>
          <p:nvPr>
            <p:ph type="subTitle" idx="1"/>
          </p:nvPr>
        </p:nvSpPr>
        <p:spPr>
          <a:xfrm>
            <a:off x="1524000" y="748037"/>
            <a:ext cx="9708682" cy="1612648"/>
          </a:xfrm>
        </p:spPr>
        <p:txBody>
          <a:bodyPr vert="horz" lIns="91440" tIns="45720" rIns="91440" bIns="45720" numCol="1" rtlCol="0" anchor="t">
            <a:noAutofit/>
          </a:bodyPr>
          <a:lstStyle/>
          <a:p>
            <a:pPr algn="l"/>
            <a:r>
              <a:rPr lang="en-US" sz="2800" dirty="0">
                <a:latin typeface="Helvetica" pitchFamily="2" charset="0"/>
                <a:cs typeface="Calibri"/>
              </a:rPr>
              <a:t>Usage:</a:t>
            </a:r>
          </a:p>
          <a:p>
            <a:pPr algn="l">
              <a:lnSpc>
                <a:spcPct val="100000"/>
              </a:lnSpc>
              <a:spcBef>
                <a:spcPts val="0"/>
              </a:spcBef>
            </a:pPr>
            <a:r>
              <a:rPr lang="en-US" sz="1600" dirty="0">
                <a:cs typeface="Calibri"/>
              </a:rPr>
              <a:t>Transactional Emails</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4594270"/>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endParaRPr lang="en-US" sz="1600" dirty="0">
              <a:cs typeface="Calibri"/>
              <a:hlinkClick r:id="rId2"/>
            </a:endParaRPr>
          </a:p>
          <a:p>
            <a:pPr algn="l">
              <a:lnSpc>
                <a:spcPct val="100000"/>
              </a:lnSpc>
              <a:spcBef>
                <a:spcPts val="0"/>
              </a:spcBef>
            </a:pPr>
            <a:r>
              <a:rPr lang="en-US" sz="1400" b="1" dirty="0">
                <a:cs typeface="Calibri"/>
              </a:rPr>
              <a:t>PRODUCTION ENVIRONMENT | email</a:t>
            </a:r>
            <a:r>
              <a:rPr lang="en-US" sz="1400" dirty="0">
                <a:cs typeface="Calibri"/>
              </a:rPr>
              <a:t>: </a:t>
            </a:r>
            <a:r>
              <a:rPr lang="en-US" sz="1400" dirty="0">
                <a:cs typeface="Calibri"/>
                <a:hlinkClick r:id="rId2"/>
              </a:rPr>
              <a:t>hi@verifly.com</a:t>
            </a:r>
            <a:r>
              <a:rPr lang="en-US" sz="1400" dirty="0">
                <a:cs typeface="Calibri"/>
              </a:rPr>
              <a:t> / </a:t>
            </a:r>
            <a:r>
              <a:rPr lang="en-US" sz="1400" b="1" dirty="0">
                <a:cs typeface="Calibri"/>
              </a:rPr>
              <a:t>username</a:t>
            </a:r>
            <a:r>
              <a:rPr lang="en-US" sz="1400" dirty="0">
                <a:cs typeface="Calibri"/>
              </a:rPr>
              <a:t>: </a:t>
            </a:r>
            <a:r>
              <a:rPr lang="en-US" sz="1400" dirty="0" err="1">
                <a:cs typeface="Calibri"/>
              </a:rPr>
              <a:t>verifly.marketing</a:t>
            </a:r>
            <a:r>
              <a:rPr lang="en-US" sz="1400" dirty="0">
                <a:cs typeface="Calibri"/>
              </a:rPr>
              <a:t> / </a:t>
            </a:r>
            <a:r>
              <a:rPr lang="en-US" sz="1400" b="1" dirty="0">
                <a:cs typeface="Calibri"/>
              </a:rPr>
              <a:t>pass</a:t>
            </a:r>
            <a:r>
              <a:rPr lang="en-US" sz="1400" dirty="0">
                <a:cs typeface="Calibri"/>
              </a:rPr>
              <a:t>: V3r1fly01!</a:t>
            </a:r>
          </a:p>
          <a:p>
            <a:pPr lvl="0" algn="l">
              <a:lnSpc>
                <a:spcPct val="100000"/>
              </a:lnSpc>
              <a:spcBef>
                <a:spcPts val="0"/>
              </a:spcBef>
            </a:pPr>
            <a:r>
              <a:rPr lang="en-US" sz="1400" b="1" dirty="0">
                <a:solidFill>
                  <a:prstClr val="black"/>
                </a:solidFill>
                <a:cs typeface="Calibri"/>
              </a:rPr>
              <a:t>STAGING ENVIRONMENT | emai</a:t>
            </a:r>
            <a:r>
              <a:rPr lang="en-US" sz="1400" dirty="0">
                <a:solidFill>
                  <a:prstClr val="black"/>
                </a:solidFill>
                <a:cs typeface="Calibri"/>
              </a:rPr>
              <a:t>l: </a:t>
            </a:r>
            <a:r>
              <a:rPr lang="en-US" sz="1400" dirty="0">
                <a:solidFill>
                  <a:prstClr val="black"/>
                </a:solidFill>
                <a:cs typeface="Calibri"/>
                <a:hlinkClick r:id="rId3"/>
              </a:rPr>
              <a:t>sendgridtest@verifly.com</a:t>
            </a:r>
            <a:r>
              <a:rPr lang="en-US" sz="1400" dirty="0">
                <a:solidFill>
                  <a:prstClr val="black"/>
                </a:solidFill>
                <a:cs typeface="Calibri"/>
              </a:rPr>
              <a:t> / </a:t>
            </a:r>
            <a:r>
              <a:rPr lang="en-US" sz="1400" b="1" dirty="0">
                <a:solidFill>
                  <a:prstClr val="black"/>
                </a:solidFill>
                <a:cs typeface="Calibri"/>
              </a:rPr>
              <a:t>username</a:t>
            </a:r>
            <a:r>
              <a:rPr lang="en-US" sz="1400" dirty="0">
                <a:solidFill>
                  <a:prstClr val="black"/>
                </a:solidFill>
                <a:cs typeface="Calibri"/>
              </a:rPr>
              <a:t>: </a:t>
            </a:r>
            <a:r>
              <a:rPr lang="en-US" sz="1400" dirty="0" err="1">
                <a:solidFill>
                  <a:prstClr val="black"/>
                </a:solidFill>
                <a:cs typeface="Calibri"/>
              </a:rPr>
              <a:t>veriflytest</a:t>
            </a:r>
            <a:r>
              <a:rPr lang="en-US" sz="1400" dirty="0">
                <a:solidFill>
                  <a:prstClr val="black"/>
                </a:solidFill>
                <a:cs typeface="Calibri"/>
              </a:rPr>
              <a:t>/ </a:t>
            </a:r>
            <a:r>
              <a:rPr lang="en-US" sz="1400" b="1" dirty="0">
                <a:solidFill>
                  <a:prstClr val="black"/>
                </a:solidFill>
                <a:cs typeface="Calibri"/>
              </a:rPr>
              <a:t>pass</a:t>
            </a:r>
            <a:r>
              <a:rPr lang="en-US" sz="1400" dirty="0">
                <a:solidFill>
                  <a:prstClr val="black"/>
                </a:solidFill>
                <a:cs typeface="Calibri"/>
              </a:rPr>
              <a:t>: Special!441g</a:t>
            </a:r>
            <a:endParaRPr lang="en-US" sz="18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8418897"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There are two instance of </a:t>
            </a:r>
            <a:r>
              <a:rPr lang="en-US" sz="1600" dirty="0" err="1">
                <a:cs typeface="Calibri"/>
              </a:rPr>
              <a:t>Sendgrid</a:t>
            </a:r>
            <a:r>
              <a:rPr lang="en-US" sz="1600" dirty="0">
                <a:cs typeface="Calibri"/>
              </a:rPr>
              <a:t>. One used for </a:t>
            </a:r>
            <a:r>
              <a:rPr lang="en-US" sz="1600" dirty="0" err="1">
                <a:cs typeface="Calibri"/>
              </a:rPr>
              <a:t>Producation</a:t>
            </a:r>
            <a:r>
              <a:rPr lang="en-US" sz="1600" dirty="0">
                <a:cs typeface="Calibri"/>
              </a:rPr>
              <a:t>, the other used for Staging. Additionally there will likely be a third instance used for Broker outreach</a:t>
            </a:r>
          </a:p>
          <a:p>
            <a:pPr algn="l"/>
            <a:endParaRPr lang="en-US" sz="2000" dirty="0">
              <a:cs typeface="Calibri"/>
            </a:endParaRPr>
          </a:p>
        </p:txBody>
      </p:sp>
    </p:spTree>
    <p:extLst>
      <p:ext uri="{BB962C8B-B14F-4D97-AF65-F5344CB8AC3E}">
        <p14:creationId xmlns:p14="http://schemas.microsoft.com/office/powerpoint/2010/main" val="3863420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SendGrid</a:t>
            </a:r>
            <a:r>
              <a:rPr lang="en-US" sz="3200" dirty="0">
                <a:latin typeface="Helvetica" pitchFamily="2" charset="0"/>
                <a:cs typeface="Calibri Light"/>
              </a:rPr>
              <a:t> </a:t>
            </a:r>
            <a:endParaRPr lang="en-US" sz="4800" dirty="0"/>
          </a:p>
        </p:txBody>
      </p:sp>
      <p:sp>
        <p:nvSpPr>
          <p:cNvPr id="3" name="Subtitle 2"/>
          <p:cNvSpPr>
            <a:spLocks noGrp="1"/>
          </p:cNvSpPr>
          <p:nvPr>
            <p:ph type="subTitle" idx="1"/>
          </p:nvPr>
        </p:nvSpPr>
        <p:spPr>
          <a:xfrm>
            <a:off x="1524000" y="1874247"/>
            <a:ext cx="9144000" cy="1951304"/>
          </a:xfrm>
        </p:spPr>
        <p:txBody>
          <a:bodyPr vert="horz" lIns="91440" tIns="45720" rIns="91440" bIns="45720" rtlCol="0" anchor="t">
            <a:noAutofit/>
          </a:bodyPr>
          <a:lstStyle/>
          <a:p>
            <a:pPr algn="l"/>
            <a:r>
              <a:rPr lang="en-US" sz="2800" b="1" dirty="0">
                <a:cs typeface="Calibri"/>
              </a:rPr>
              <a:t>SendGrid</a:t>
            </a:r>
            <a:r>
              <a:rPr lang="en-US" sz="2800" dirty="0">
                <a:cs typeface="Calibri"/>
              </a:rPr>
              <a:t> is the tool that is used to send Transactional Emails to Contacts. Most of the Transactional Emails go to customers and additional insureds to notify them of events related to their respective policies. </a:t>
            </a:r>
          </a:p>
        </p:txBody>
      </p:sp>
    </p:spTree>
    <p:extLst>
      <p:ext uri="{BB962C8B-B14F-4D97-AF65-F5344CB8AC3E}">
        <p14:creationId xmlns:p14="http://schemas.microsoft.com/office/powerpoint/2010/main" val="1793742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SendGrid</a:t>
            </a:r>
            <a:r>
              <a:rPr lang="en-US" sz="3200" dirty="0">
                <a:latin typeface="Helvetica" pitchFamily="2" charset="0"/>
                <a:cs typeface="Calibri Light"/>
              </a:rPr>
              <a:t> </a:t>
            </a:r>
            <a:endParaRPr lang="en-US" sz="4800" dirty="0"/>
          </a:p>
        </p:txBody>
      </p:sp>
      <p:sp>
        <p:nvSpPr>
          <p:cNvPr id="3" name="Subtitle 2"/>
          <p:cNvSpPr>
            <a:spLocks noGrp="1"/>
          </p:cNvSpPr>
          <p:nvPr>
            <p:ph type="subTitle" idx="1"/>
          </p:nvPr>
        </p:nvSpPr>
        <p:spPr>
          <a:xfrm>
            <a:off x="1524000" y="1874247"/>
            <a:ext cx="9564303" cy="1951304"/>
          </a:xfrm>
        </p:spPr>
        <p:txBody>
          <a:bodyPr vert="horz" lIns="91440" tIns="45720" rIns="91440" bIns="45720" rtlCol="0" anchor="t">
            <a:noAutofit/>
          </a:bodyPr>
          <a:lstStyle/>
          <a:p>
            <a:pPr algn="l"/>
            <a:r>
              <a:rPr lang="en-US" sz="2800" b="1" dirty="0">
                <a:cs typeface="Calibri"/>
              </a:rPr>
              <a:t>Note:</a:t>
            </a:r>
            <a:r>
              <a:rPr lang="en-US" sz="2800" dirty="0">
                <a:cs typeface="Calibri"/>
              </a:rPr>
              <a:t> the there are two instances of SendGrid. One for testing that is connected to Staging / Beta and the other that is connected to Production / Live. When updating emails with functional changes it is recommended that updates take place and are tested in the staging instance and then copied over to the production instance. </a:t>
            </a:r>
          </a:p>
        </p:txBody>
      </p:sp>
    </p:spTree>
    <p:extLst>
      <p:ext uri="{BB962C8B-B14F-4D97-AF65-F5344CB8AC3E}">
        <p14:creationId xmlns:p14="http://schemas.microsoft.com/office/powerpoint/2010/main" val="3851441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   SendGrid</a:t>
            </a:r>
            <a:r>
              <a:rPr lang="en-US" sz="3200" dirty="0">
                <a:latin typeface="Helvetica" pitchFamily="2" charset="0"/>
                <a:cs typeface="Calibri Light"/>
              </a:rPr>
              <a:t> </a:t>
            </a:r>
            <a:endParaRPr lang="en-US" sz="4800" dirty="0"/>
          </a:p>
        </p:txBody>
      </p:sp>
      <p:sp>
        <p:nvSpPr>
          <p:cNvPr id="3" name="Subtitle 2"/>
          <p:cNvSpPr>
            <a:spLocks noGrp="1"/>
          </p:cNvSpPr>
          <p:nvPr>
            <p:ph type="subTitle" idx="1"/>
          </p:nvPr>
        </p:nvSpPr>
        <p:spPr>
          <a:xfrm>
            <a:off x="1524000" y="1874247"/>
            <a:ext cx="9708682" cy="1951304"/>
          </a:xfrm>
        </p:spPr>
        <p:txBody>
          <a:bodyPr vert="horz" lIns="91440" tIns="45720" rIns="91440" bIns="45720" numCol="1" rtlCol="0" anchor="t">
            <a:noAutofit/>
          </a:bodyPr>
          <a:lstStyle/>
          <a:p>
            <a:pPr algn="l"/>
            <a:r>
              <a:rPr lang="en-US" sz="2800" dirty="0">
                <a:latin typeface="Helvetica" pitchFamily="2" charset="0"/>
                <a:cs typeface="Calibri"/>
              </a:rPr>
              <a:t>As followed are the 28 templates that are used in SendGrid:</a:t>
            </a:r>
          </a:p>
          <a:p>
            <a:pPr algn="l">
              <a:lnSpc>
                <a:spcPct val="100000"/>
              </a:lnSpc>
              <a:spcBef>
                <a:spcPts val="0"/>
              </a:spcBef>
            </a:pPr>
            <a:r>
              <a:rPr lang="en-US" sz="1600" dirty="0">
                <a:cs typeface="Calibri"/>
              </a:rPr>
              <a:t>(the html versions of these files can be accessed </a:t>
            </a:r>
            <a:r>
              <a:rPr lang="en-US" sz="1600" dirty="0">
                <a:cs typeface="Calibri"/>
                <a:hlinkClick r:id="rId2"/>
              </a:rPr>
              <a:t>here</a:t>
            </a:r>
            <a:r>
              <a:rPr lang="en-US" sz="1600" dirty="0">
                <a:cs typeface="Calibri"/>
              </a:rPr>
              <a:t> [Transactional </a:t>
            </a:r>
            <a:r>
              <a:rPr lang="en-US" sz="1600" dirty="0" err="1">
                <a:cs typeface="Calibri"/>
              </a:rPr>
              <a:t>Templates.zip</a:t>
            </a:r>
            <a:r>
              <a:rPr lang="en-US" sz="1600" dirty="0">
                <a:cs typeface="Calibri"/>
              </a:rPr>
              <a:t>])</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10" name="Rectangle 9">
            <a:extLst>
              <a:ext uri="{FF2B5EF4-FFF2-40B4-BE49-F238E27FC236}">
                <a16:creationId xmlns:a16="http://schemas.microsoft.com/office/drawing/2014/main" id="{A3821422-5C2B-8F40-8095-21EA61BDA736}"/>
              </a:ext>
            </a:extLst>
          </p:cNvPr>
          <p:cNvSpPr/>
          <p:nvPr/>
        </p:nvSpPr>
        <p:spPr>
          <a:xfrm>
            <a:off x="1524001" y="2627697"/>
            <a:ext cx="9708682" cy="1507096"/>
          </a:xfrm>
          <a:prstGeom prst="rect">
            <a:avLst/>
          </a:prstGeom>
        </p:spPr>
        <p:txBody>
          <a:bodyPr wrap="square" numCol="3">
            <a:noAutofit/>
          </a:bodyPr>
          <a:lstStyle/>
          <a:p>
            <a:pPr fontAlgn="b">
              <a:lnSpc>
                <a:spcPct val="150000"/>
              </a:lnSpc>
            </a:pPr>
            <a:r>
              <a:rPr lang="en-US" sz="1400" dirty="0">
                <a:latin typeface="Helvetica" pitchFamily="2" charset="0"/>
              </a:rPr>
              <a:t>Policy-Amend</a:t>
            </a:r>
          </a:p>
          <a:p>
            <a:pPr fontAlgn="b">
              <a:lnSpc>
                <a:spcPct val="150000"/>
              </a:lnSpc>
            </a:pPr>
            <a:r>
              <a:rPr lang="en-US" sz="1400" dirty="0">
                <a:latin typeface="Helvetica" pitchFamily="2" charset="0"/>
              </a:rPr>
              <a:t>*Broker-sign-up-invite</a:t>
            </a:r>
          </a:p>
          <a:p>
            <a:pPr fontAlgn="b">
              <a:lnSpc>
                <a:spcPct val="150000"/>
              </a:lnSpc>
            </a:pPr>
            <a:r>
              <a:rPr lang="en-US" sz="1400" dirty="0">
                <a:latin typeface="Helvetica" pitchFamily="2" charset="0"/>
              </a:rPr>
              <a:t>*Agent-sign-in-notification</a:t>
            </a:r>
          </a:p>
          <a:p>
            <a:pPr fontAlgn="b">
              <a:lnSpc>
                <a:spcPct val="150000"/>
              </a:lnSpc>
            </a:pPr>
            <a:r>
              <a:rPr lang="en-US" sz="1400" dirty="0">
                <a:latin typeface="Helvetica" pitchFamily="2" charset="0"/>
              </a:rPr>
              <a:t>*Agent-create-password-notification</a:t>
            </a:r>
          </a:p>
          <a:p>
            <a:pPr fontAlgn="b">
              <a:lnSpc>
                <a:spcPct val="150000"/>
              </a:lnSpc>
            </a:pPr>
            <a:r>
              <a:rPr lang="en-US" sz="1400" dirty="0">
                <a:latin typeface="Helvetica" pitchFamily="2" charset="0"/>
              </a:rPr>
              <a:t>Demo</a:t>
            </a:r>
          </a:p>
          <a:p>
            <a:pPr fontAlgn="b">
              <a:lnSpc>
                <a:spcPct val="150000"/>
              </a:lnSpc>
            </a:pPr>
            <a:r>
              <a:rPr lang="en-US" sz="1400" dirty="0">
                <a:latin typeface="Helvetica" pitchFamily="2" charset="0"/>
              </a:rPr>
              <a:t>Policy</a:t>
            </a:r>
          </a:p>
          <a:p>
            <a:pPr fontAlgn="b">
              <a:lnSpc>
                <a:spcPct val="150000"/>
              </a:lnSpc>
            </a:pPr>
            <a:r>
              <a:rPr lang="en-US" sz="1400" dirty="0">
                <a:latin typeface="Helvetica" pitchFamily="2" charset="0"/>
              </a:rPr>
              <a:t>Policy-cancel</a:t>
            </a:r>
          </a:p>
          <a:p>
            <a:pPr fontAlgn="b">
              <a:lnSpc>
                <a:spcPct val="150000"/>
              </a:lnSpc>
            </a:pPr>
            <a:r>
              <a:rPr lang="en-US" sz="1400" dirty="0" err="1">
                <a:latin typeface="Helvetica" pitchFamily="2" charset="0"/>
              </a:rPr>
              <a:t>Prebook</a:t>
            </a:r>
            <a:r>
              <a:rPr lang="en-US" sz="1400" dirty="0">
                <a:latin typeface="Helvetica" pitchFamily="2" charset="0"/>
              </a:rPr>
              <a:t>-cancel</a:t>
            </a:r>
          </a:p>
          <a:p>
            <a:pPr fontAlgn="b">
              <a:lnSpc>
                <a:spcPct val="150000"/>
              </a:lnSpc>
            </a:pPr>
            <a:r>
              <a:rPr lang="en-US" sz="1400" dirty="0">
                <a:latin typeface="Helvetica" pitchFamily="2" charset="0"/>
              </a:rPr>
              <a:t>Ai-policy-extend</a:t>
            </a:r>
          </a:p>
          <a:p>
            <a:pPr fontAlgn="b">
              <a:lnSpc>
                <a:spcPct val="150000"/>
              </a:lnSpc>
            </a:pPr>
            <a:r>
              <a:rPr lang="en-US" sz="1400" dirty="0">
                <a:latin typeface="Helvetica" pitchFamily="2" charset="0"/>
              </a:rPr>
              <a:t>Ai-policy-update-ai</a:t>
            </a:r>
          </a:p>
          <a:p>
            <a:pPr fontAlgn="b">
              <a:lnSpc>
                <a:spcPct val="150000"/>
              </a:lnSpc>
            </a:pPr>
            <a:r>
              <a:rPr lang="en-US" sz="1400" dirty="0">
                <a:latin typeface="Helvetica" pitchFamily="2" charset="0"/>
              </a:rPr>
              <a:t>Reset-password</a:t>
            </a:r>
          </a:p>
          <a:p>
            <a:pPr fontAlgn="b">
              <a:lnSpc>
                <a:spcPct val="150000"/>
              </a:lnSpc>
            </a:pPr>
            <a:r>
              <a:rPr lang="en-US" sz="1400" dirty="0">
                <a:latin typeface="Helvetica" pitchFamily="2" charset="0"/>
              </a:rPr>
              <a:t>Ai-policy</a:t>
            </a:r>
          </a:p>
          <a:p>
            <a:pPr fontAlgn="b">
              <a:lnSpc>
                <a:spcPct val="150000"/>
              </a:lnSpc>
            </a:pPr>
            <a:r>
              <a:rPr lang="en-US" sz="1400" dirty="0" err="1">
                <a:latin typeface="Helvetica" pitchFamily="2" charset="0"/>
              </a:rPr>
              <a:t>Prebook</a:t>
            </a:r>
            <a:r>
              <a:rPr lang="en-US" sz="1400" dirty="0">
                <a:latin typeface="Helvetica" pitchFamily="2" charset="0"/>
              </a:rPr>
              <a:t>-reminder</a:t>
            </a:r>
          </a:p>
          <a:p>
            <a:pPr fontAlgn="b">
              <a:lnSpc>
                <a:spcPct val="150000"/>
              </a:lnSpc>
            </a:pPr>
            <a:r>
              <a:rPr lang="en-US" sz="1400" dirty="0">
                <a:latin typeface="Helvetica" pitchFamily="2" charset="0"/>
              </a:rPr>
              <a:t>Ai-</a:t>
            </a:r>
            <a:r>
              <a:rPr lang="en-US" sz="1400" dirty="0" err="1">
                <a:latin typeface="Helvetica" pitchFamily="2" charset="0"/>
              </a:rPr>
              <a:t>prebook</a:t>
            </a:r>
            <a:r>
              <a:rPr lang="en-US" sz="1400" dirty="0">
                <a:latin typeface="Helvetica" pitchFamily="2" charset="0"/>
              </a:rPr>
              <a:t>-cancel</a:t>
            </a:r>
          </a:p>
          <a:p>
            <a:pPr fontAlgn="b">
              <a:lnSpc>
                <a:spcPct val="150000"/>
              </a:lnSpc>
            </a:pPr>
            <a:r>
              <a:rPr lang="en-US" sz="1400" dirty="0">
                <a:latin typeface="Helvetica" pitchFamily="2" charset="0"/>
              </a:rPr>
              <a:t>Policy-new-ai</a:t>
            </a:r>
          </a:p>
          <a:p>
            <a:pPr fontAlgn="b">
              <a:lnSpc>
                <a:spcPct val="150000"/>
              </a:lnSpc>
            </a:pPr>
            <a:r>
              <a:rPr lang="en-US" sz="1400" dirty="0">
                <a:latin typeface="Helvetica" pitchFamily="2" charset="0"/>
              </a:rPr>
              <a:t>Policy-update-insured</a:t>
            </a:r>
          </a:p>
          <a:p>
            <a:pPr fontAlgn="b">
              <a:lnSpc>
                <a:spcPct val="150000"/>
              </a:lnSpc>
            </a:pPr>
            <a:r>
              <a:rPr lang="en-US" sz="1400" dirty="0">
                <a:latin typeface="Helvetica" pitchFamily="2" charset="0"/>
              </a:rPr>
              <a:t>Forwarded</a:t>
            </a:r>
          </a:p>
          <a:p>
            <a:pPr fontAlgn="b">
              <a:lnSpc>
                <a:spcPct val="150000"/>
              </a:lnSpc>
            </a:pPr>
            <a:r>
              <a:rPr lang="en-US" sz="1400" dirty="0">
                <a:latin typeface="Helvetica" pitchFamily="2" charset="0"/>
              </a:rPr>
              <a:t>Ai-policy-amend</a:t>
            </a:r>
          </a:p>
          <a:p>
            <a:pPr fontAlgn="b">
              <a:lnSpc>
                <a:spcPct val="150000"/>
              </a:lnSpc>
            </a:pPr>
            <a:r>
              <a:rPr lang="en-US" sz="1400" dirty="0">
                <a:latin typeface="Helvetica" pitchFamily="2" charset="0"/>
              </a:rPr>
              <a:t>Ai-policy-update-insured</a:t>
            </a:r>
          </a:p>
          <a:p>
            <a:pPr fontAlgn="b">
              <a:lnSpc>
                <a:spcPct val="150000"/>
              </a:lnSpc>
            </a:pPr>
            <a:r>
              <a:rPr lang="en-US" sz="1400" dirty="0">
                <a:latin typeface="Helvetica" pitchFamily="2" charset="0"/>
              </a:rPr>
              <a:t>Ai-policy-new-ai</a:t>
            </a:r>
          </a:p>
          <a:p>
            <a:pPr fontAlgn="b">
              <a:lnSpc>
                <a:spcPct val="150000"/>
              </a:lnSpc>
            </a:pPr>
            <a:r>
              <a:rPr lang="en-US" sz="1400" dirty="0">
                <a:latin typeface="Helvetica" pitchFamily="2" charset="0"/>
              </a:rPr>
              <a:t>First-purchase-widget</a:t>
            </a:r>
          </a:p>
          <a:p>
            <a:pPr fontAlgn="b">
              <a:lnSpc>
                <a:spcPct val="150000"/>
              </a:lnSpc>
            </a:pPr>
            <a:r>
              <a:rPr lang="en-US" sz="1400" dirty="0">
                <a:latin typeface="Helvetica" pitchFamily="2" charset="0"/>
              </a:rPr>
              <a:t>Invite</a:t>
            </a:r>
          </a:p>
          <a:p>
            <a:pPr fontAlgn="b">
              <a:lnSpc>
                <a:spcPct val="150000"/>
              </a:lnSpc>
            </a:pPr>
            <a:r>
              <a:rPr lang="en-US" sz="1400" dirty="0">
                <a:latin typeface="Helvetica" pitchFamily="2" charset="0"/>
              </a:rPr>
              <a:t>Policy-extend</a:t>
            </a:r>
          </a:p>
          <a:p>
            <a:pPr fontAlgn="b">
              <a:lnSpc>
                <a:spcPct val="150000"/>
              </a:lnSpc>
            </a:pPr>
            <a:r>
              <a:rPr lang="en-US" sz="1400" dirty="0" err="1">
                <a:latin typeface="Helvetica" pitchFamily="2" charset="0"/>
              </a:rPr>
              <a:t>Prebook</a:t>
            </a:r>
            <a:r>
              <a:rPr lang="en-US" sz="1400" dirty="0">
                <a:latin typeface="Helvetica" pitchFamily="2" charset="0"/>
              </a:rPr>
              <a:t>-confirm</a:t>
            </a:r>
          </a:p>
          <a:p>
            <a:pPr fontAlgn="b">
              <a:lnSpc>
                <a:spcPct val="150000"/>
              </a:lnSpc>
            </a:pPr>
            <a:r>
              <a:rPr lang="en-US" sz="1400" dirty="0" err="1">
                <a:latin typeface="Helvetica" pitchFamily="2" charset="0"/>
              </a:rPr>
              <a:t>Prebook</a:t>
            </a:r>
            <a:r>
              <a:rPr lang="en-US" sz="1400" dirty="0">
                <a:latin typeface="Helvetica" pitchFamily="2" charset="0"/>
              </a:rPr>
              <a:t>-new-ai</a:t>
            </a:r>
          </a:p>
          <a:p>
            <a:pPr fontAlgn="b">
              <a:lnSpc>
                <a:spcPct val="150000"/>
              </a:lnSpc>
            </a:pPr>
            <a:r>
              <a:rPr lang="en-US" sz="1400" dirty="0">
                <a:latin typeface="Helvetica" pitchFamily="2" charset="0"/>
              </a:rPr>
              <a:t>Ai-policy-cancel</a:t>
            </a:r>
          </a:p>
          <a:p>
            <a:pPr fontAlgn="b">
              <a:lnSpc>
                <a:spcPct val="150000"/>
              </a:lnSpc>
            </a:pPr>
            <a:r>
              <a:rPr lang="en-US" sz="1400" dirty="0">
                <a:latin typeface="Helvetica" pitchFamily="2" charset="0"/>
              </a:rPr>
              <a:t>Policy-expire-reminder</a:t>
            </a:r>
          </a:p>
          <a:p>
            <a:pPr fontAlgn="b">
              <a:lnSpc>
                <a:spcPct val="150000"/>
              </a:lnSpc>
            </a:pPr>
            <a:r>
              <a:rPr lang="en-US" sz="1400" dirty="0">
                <a:latin typeface="Helvetica" pitchFamily="2" charset="0"/>
              </a:rPr>
              <a:t>Purchase-receipt</a:t>
            </a:r>
          </a:p>
        </p:txBody>
      </p:sp>
      <p:sp>
        <p:nvSpPr>
          <p:cNvPr id="11" name="TextBox 10">
            <a:extLst>
              <a:ext uri="{FF2B5EF4-FFF2-40B4-BE49-F238E27FC236}">
                <a16:creationId xmlns:a16="http://schemas.microsoft.com/office/drawing/2014/main" id="{24B38F16-5A09-7544-B57B-02AB4AC2E332}"/>
              </a:ext>
            </a:extLst>
          </p:cNvPr>
          <p:cNvSpPr txBox="1"/>
          <p:nvPr/>
        </p:nvSpPr>
        <p:spPr>
          <a:xfrm>
            <a:off x="7729086" y="6266046"/>
            <a:ext cx="3666645" cy="369332"/>
          </a:xfrm>
          <a:prstGeom prst="rect">
            <a:avLst/>
          </a:prstGeom>
          <a:noFill/>
        </p:spPr>
        <p:txBody>
          <a:bodyPr wrap="none" rtlCol="0">
            <a:spAutoFit/>
          </a:bodyPr>
          <a:lstStyle/>
          <a:p>
            <a:r>
              <a:rPr lang="en-US" dirty="0"/>
              <a:t>*associated with the Broker </a:t>
            </a:r>
            <a:r>
              <a:rPr lang="en-US" dirty="0" err="1"/>
              <a:t>Campain</a:t>
            </a:r>
            <a:endParaRPr lang="en-US" dirty="0"/>
          </a:p>
        </p:txBody>
      </p:sp>
    </p:spTree>
    <p:extLst>
      <p:ext uri="{BB962C8B-B14F-4D97-AF65-F5344CB8AC3E}">
        <p14:creationId xmlns:p14="http://schemas.microsoft.com/office/powerpoint/2010/main" val="312871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err="1">
                <a:latin typeface="Helvetica" pitchFamily="2" charset="0"/>
                <a:cs typeface="Calibri Light"/>
              </a:rPr>
              <a:t>Yotpo</a:t>
            </a:r>
            <a:endParaRPr lang="en-US" dirty="0" err="1"/>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2800" dirty="0">
                <a:cs typeface="Calibri"/>
              </a:rPr>
              <a:t>Outgoing Marketing Messages</a:t>
            </a:r>
          </a:p>
        </p:txBody>
      </p:sp>
    </p:spTree>
    <p:extLst>
      <p:ext uri="{BB962C8B-B14F-4D97-AF65-F5344CB8AC3E}">
        <p14:creationId xmlns:p14="http://schemas.microsoft.com/office/powerpoint/2010/main" val="2750838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err="1">
                <a:latin typeface="Helvetica" pitchFamily="2" charset="0"/>
                <a:cs typeface="Calibri Light"/>
              </a:rPr>
              <a:t>Yotpo</a:t>
            </a:r>
            <a:endParaRPr lang="en-US" sz="4800" dirty="0"/>
          </a:p>
        </p:txBody>
      </p:sp>
      <p:sp>
        <p:nvSpPr>
          <p:cNvPr id="3" name="Subtitle 2"/>
          <p:cNvSpPr>
            <a:spLocks noGrp="1"/>
          </p:cNvSpPr>
          <p:nvPr>
            <p:ph type="subTitle" idx="1"/>
          </p:nvPr>
        </p:nvSpPr>
        <p:spPr>
          <a:xfrm>
            <a:off x="1524000" y="748037"/>
            <a:ext cx="9708682" cy="1612648"/>
          </a:xfrm>
        </p:spPr>
        <p:txBody>
          <a:bodyPr vert="horz" lIns="91440" tIns="45720" rIns="91440" bIns="45720" numCol="1" rtlCol="0" anchor="t">
            <a:noAutofit/>
          </a:bodyPr>
          <a:lstStyle/>
          <a:p>
            <a:pPr algn="l"/>
            <a:r>
              <a:rPr lang="en-US" sz="2800" dirty="0">
                <a:latin typeface="Helvetica" pitchFamily="2" charset="0"/>
                <a:cs typeface="Calibri"/>
              </a:rPr>
              <a:t>Usage:</a:t>
            </a:r>
          </a:p>
          <a:p>
            <a:pPr algn="l">
              <a:lnSpc>
                <a:spcPct val="100000"/>
              </a:lnSpc>
              <a:spcBef>
                <a:spcPts val="0"/>
              </a:spcBef>
            </a:pPr>
            <a:r>
              <a:rPr lang="en-US" sz="1600" dirty="0">
                <a:latin typeface="Helvetica" pitchFamily="2" charset="0"/>
                <a:cs typeface="Calibri"/>
              </a:rPr>
              <a:t>Used to garner outward facing review for customer assessment and review </a:t>
            </a: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4594270"/>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p>
          <a:p>
            <a:pPr algn="l">
              <a:lnSpc>
                <a:spcPct val="100000"/>
              </a:lnSpc>
              <a:spcBef>
                <a:spcPts val="0"/>
              </a:spcBef>
            </a:pPr>
            <a:r>
              <a:rPr lang="en-US" sz="1600" dirty="0">
                <a:cs typeface="Calibri"/>
                <a:hlinkClick r:id="rId2"/>
              </a:rPr>
              <a:t>hi@verifly.com</a:t>
            </a:r>
            <a:r>
              <a:rPr lang="en-US" sz="1600" dirty="0">
                <a:cs typeface="Calibri"/>
              </a:rPr>
              <a:t> / V3rifly!</a:t>
            </a:r>
          </a:p>
          <a:p>
            <a:pPr algn="l"/>
            <a:endParaRPr lang="en-US" sz="20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This tool has been </a:t>
            </a:r>
          </a:p>
          <a:p>
            <a:pPr algn="l"/>
            <a:endParaRPr lang="en-US" sz="2000" dirty="0">
              <a:cs typeface="Calibri"/>
            </a:endParaRPr>
          </a:p>
        </p:txBody>
      </p:sp>
    </p:spTree>
    <p:extLst>
      <p:ext uri="{BB962C8B-B14F-4D97-AF65-F5344CB8AC3E}">
        <p14:creationId xmlns:p14="http://schemas.microsoft.com/office/powerpoint/2010/main" val="1586232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a:latin typeface="Helvetica" pitchFamily="2" charset="0"/>
                <a:cs typeface="Calibri Light"/>
              </a:rPr>
              <a:t>Delighted</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US" dirty="0">
                <a:hlinkClick r:id="rId2"/>
              </a:rPr>
              <a:t>Net Promoter Score (NPS)</a:t>
            </a:r>
            <a:r>
              <a:rPr lang="en-US" dirty="0"/>
              <a:t> Software</a:t>
            </a:r>
          </a:p>
          <a:p>
            <a:pPr algn="l"/>
            <a:endParaRPr lang="en-US" sz="2800" dirty="0">
              <a:cs typeface="Calibri"/>
            </a:endParaRPr>
          </a:p>
        </p:txBody>
      </p:sp>
    </p:spTree>
    <p:extLst>
      <p:ext uri="{BB962C8B-B14F-4D97-AF65-F5344CB8AC3E}">
        <p14:creationId xmlns:p14="http://schemas.microsoft.com/office/powerpoint/2010/main" val="4109937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Delighted</a:t>
            </a:r>
            <a:endParaRPr lang="en-US" sz="4800" dirty="0"/>
          </a:p>
        </p:txBody>
      </p:sp>
      <p:sp>
        <p:nvSpPr>
          <p:cNvPr id="3" name="Subtitle 2"/>
          <p:cNvSpPr>
            <a:spLocks noGrp="1"/>
          </p:cNvSpPr>
          <p:nvPr>
            <p:ph type="subTitle" idx="1"/>
          </p:nvPr>
        </p:nvSpPr>
        <p:spPr>
          <a:xfrm>
            <a:off x="1524000" y="748037"/>
            <a:ext cx="9708682" cy="1612648"/>
          </a:xfrm>
        </p:spPr>
        <p:txBody>
          <a:bodyPr vert="horz" lIns="91440" tIns="45720" rIns="91440" bIns="45720" numCol="1" rtlCol="0" anchor="t">
            <a:noAutofit/>
          </a:bodyPr>
          <a:lstStyle/>
          <a:p>
            <a:pPr algn="l"/>
            <a:r>
              <a:rPr lang="en-US" sz="2800" dirty="0">
                <a:latin typeface="Helvetica" pitchFamily="2" charset="0"/>
                <a:cs typeface="Calibri"/>
              </a:rPr>
              <a:t>Usage:</a:t>
            </a:r>
          </a:p>
          <a:p>
            <a:pPr algn="l">
              <a:lnSpc>
                <a:spcPct val="100000"/>
              </a:lnSpc>
              <a:spcBef>
                <a:spcPts val="0"/>
              </a:spcBef>
            </a:pPr>
            <a:r>
              <a:rPr lang="en-US" sz="1600" dirty="0">
                <a:cs typeface="Calibri"/>
              </a:rPr>
              <a:t>Used to garner inward facing customer review NPS evaluation</a:t>
            </a: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4594270"/>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p>
          <a:p>
            <a:pPr algn="l">
              <a:lnSpc>
                <a:spcPct val="100000"/>
              </a:lnSpc>
              <a:spcBef>
                <a:spcPts val="0"/>
              </a:spcBef>
            </a:pPr>
            <a:r>
              <a:rPr lang="en-US" sz="1600" dirty="0">
                <a:cs typeface="Calibri"/>
                <a:hlinkClick r:id="rId2"/>
              </a:rPr>
              <a:t>hi@verifly.com</a:t>
            </a:r>
            <a:r>
              <a:rPr lang="en-US" sz="1600" dirty="0">
                <a:cs typeface="Calibri"/>
              </a:rPr>
              <a:t> / V3r1fly!</a:t>
            </a:r>
          </a:p>
          <a:p>
            <a:pPr algn="l"/>
            <a:endParaRPr lang="en-US" sz="20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This is live and currently is sent to customers 3 days after their first purchase</a:t>
            </a:r>
          </a:p>
          <a:p>
            <a:pPr algn="l"/>
            <a:endParaRPr lang="en-US" sz="2000" dirty="0">
              <a:cs typeface="Calibri"/>
            </a:endParaRPr>
          </a:p>
        </p:txBody>
      </p:sp>
    </p:spTree>
    <p:extLst>
      <p:ext uri="{BB962C8B-B14F-4D97-AF65-F5344CB8AC3E}">
        <p14:creationId xmlns:p14="http://schemas.microsoft.com/office/powerpoint/2010/main" val="2618010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err="1">
                <a:latin typeface="Helvetica" pitchFamily="2" charset="0"/>
                <a:cs typeface="Calibri Light"/>
              </a:rPr>
              <a:t>Typeform</a:t>
            </a:r>
            <a:endParaRPr lang="en-US" dirty="0" err="1"/>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2800" dirty="0">
                <a:cs typeface="Calibri"/>
              </a:rPr>
              <a:t>Surveys &amp; Polls</a:t>
            </a:r>
            <a:endParaRPr lang="en-US" dirty="0"/>
          </a:p>
        </p:txBody>
      </p:sp>
    </p:spTree>
    <p:extLst>
      <p:ext uri="{BB962C8B-B14F-4D97-AF65-F5344CB8AC3E}">
        <p14:creationId xmlns:p14="http://schemas.microsoft.com/office/powerpoint/2010/main" val="23638236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err="1">
                <a:latin typeface="Helvetica" pitchFamily="2" charset="0"/>
                <a:cs typeface="Calibri Light"/>
              </a:rPr>
              <a:t>TypeForm</a:t>
            </a:r>
            <a:endParaRPr lang="en-US" sz="4800" dirty="0"/>
          </a:p>
        </p:txBody>
      </p:sp>
      <p:sp>
        <p:nvSpPr>
          <p:cNvPr id="3" name="Subtitle 2"/>
          <p:cNvSpPr>
            <a:spLocks noGrp="1"/>
          </p:cNvSpPr>
          <p:nvPr>
            <p:ph type="subTitle" idx="1"/>
          </p:nvPr>
        </p:nvSpPr>
        <p:spPr>
          <a:xfrm>
            <a:off x="1524000" y="748037"/>
            <a:ext cx="9708682" cy="1612648"/>
          </a:xfrm>
        </p:spPr>
        <p:txBody>
          <a:bodyPr vert="horz" lIns="91440" tIns="45720" rIns="91440" bIns="45720" numCol="1" rtlCol="0" anchor="t">
            <a:noAutofit/>
          </a:bodyPr>
          <a:lstStyle/>
          <a:p>
            <a:pPr algn="l"/>
            <a:r>
              <a:rPr lang="en-US" sz="2800" dirty="0">
                <a:latin typeface="Helvetica" pitchFamily="2" charset="0"/>
                <a:cs typeface="Calibri"/>
              </a:rPr>
              <a:t>Usage:</a:t>
            </a:r>
          </a:p>
          <a:p>
            <a:pPr algn="l">
              <a:lnSpc>
                <a:spcPct val="100000"/>
              </a:lnSpc>
              <a:spcBef>
                <a:spcPts val="0"/>
              </a:spcBef>
            </a:pPr>
            <a:r>
              <a:rPr lang="en-US" sz="1600" dirty="0">
                <a:cs typeface="Calibri"/>
              </a:rPr>
              <a:t>Used for additional user feedback not related to </a:t>
            </a:r>
            <a:r>
              <a:rPr lang="en-US" sz="1600" dirty="0" err="1">
                <a:cs typeface="Calibri"/>
              </a:rPr>
              <a:t>Yotpo</a:t>
            </a:r>
            <a:r>
              <a:rPr lang="en-US" sz="1600" dirty="0">
                <a:cs typeface="Calibri"/>
              </a:rPr>
              <a:t> / Delighted</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4594270"/>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p>
          <a:p>
            <a:pPr algn="l">
              <a:lnSpc>
                <a:spcPct val="100000"/>
              </a:lnSpc>
              <a:spcBef>
                <a:spcPts val="0"/>
              </a:spcBef>
            </a:pPr>
            <a:r>
              <a:rPr lang="en-US" sz="1600" dirty="0">
                <a:cs typeface="Calibri"/>
                <a:hlinkClick r:id="rId2"/>
              </a:rPr>
              <a:t>hi@verifly.com</a:t>
            </a:r>
            <a:r>
              <a:rPr lang="en-US" sz="1600" dirty="0">
                <a:cs typeface="Calibri"/>
              </a:rPr>
              <a:t> / V3r1fly!</a:t>
            </a:r>
          </a:p>
          <a:p>
            <a:pPr algn="l"/>
            <a:endParaRPr lang="en-US" sz="20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There were two </a:t>
            </a:r>
            <a:r>
              <a:rPr lang="en-US" sz="1600" dirty="0" err="1">
                <a:cs typeface="Calibri"/>
              </a:rPr>
              <a:t>initiaves</a:t>
            </a:r>
            <a:r>
              <a:rPr lang="en-US" sz="1600" dirty="0">
                <a:cs typeface="Calibri"/>
              </a:rPr>
              <a:t> involving the use of </a:t>
            </a:r>
            <a:r>
              <a:rPr lang="en-US" sz="1600" dirty="0" err="1">
                <a:cs typeface="Calibri"/>
              </a:rPr>
              <a:t>Typeform</a:t>
            </a:r>
            <a:r>
              <a:rPr lang="en-US" sz="1600" dirty="0">
                <a:cs typeface="Calibri"/>
              </a:rPr>
              <a:t> (</a:t>
            </a:r>
            <a:r>
              <a:rPr lang="en-US" sz="1600" b="1" dirty="0" err="1">
                <a:cs typeface="Calibri"/>
              </a:rPr>
              <a:t>Quoter</a:t>
            </a:r>
            <a:r>
              <a:rPr lang="en-US" sz="1600" b="1" dirty="0">
                <a:cs typeface="Calibri"/>
              </a:rPr>
              <a:t> Survey </a:t>
            </a:r>
            <a:r>
              <a:rPr lang="en-US" sz="1600" dirty="0">
                <a:cs typeface="Calibri"/>
              </a:rPr>
              <a:t>– to see why people didn’t buy &amp; Customer Survey – to better understand the customer journey and purchasing decisions</a:t>
            </a:r>
          </a:p>
          <a:p>
            <a:pPr algn="l"/>
            <a:endParaRPr lang="en-US" sz="2000" dirty="0">
              <a:cs typeface="Calibri"/>
            </a:endParaRPr>
          </a:p>
        </p:txBody>
      </p:sp>
    </p:spTree>
    <p:extLst>
      <p:ext uri="{BB962C8B-B14F-4D97-AF65-F5344CB8AC3E}">
        <p14:creationId xmlns:p14="http://schemas.microsoft.com/office/powerpoint/2010/main" val="1162536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err="1">
                <a:latin typeface="Helvetica" pitchFamily="2" charset="0"/>
                <a:cs typeface="Calibri Light"/>
              </a:rPr>
              <a:t>Webflow</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2800" dirty="0">
                <a:cs typeface="Calibri"/>
              </a:rPr>
              <a:t>Landing Pages &amp; Subscription Center</a:t>
            </a:r>
            <a:endParaRPr lang="en-US" dirty="0"/>
          </a:p>
        </p:txBody>
      </p:sp>
    </p:spTree>
    <p:extLst>
      <p:ext uri="{BB962C8B-B14F-4D97-AF65-F5344CB8AC3E}">
        <p14:creationId xmlns:p14="http://schemas.microsoft.com/office/powerpoint/2010/main" val="1600452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err="1">
                <a:latin typeface="Helvetica" pitchFamily="2" charset="0"/>
                <a:cs typeface="Calibri Light"/>
              </a:rPr>
              <a:t>Webflow</a:t>
            </a:r>
            <a:endParaRPr lang="en-US" sz="4800" dirty="0"/>
          </a:p>
        </p:txBody>
      </p:sp>
      <p:sp>
        <p:nvSpPr>
          <p:cNvPr id="3" name="Subtitle 2"/>
          <p:cNvSpPr>
            <a:spLocks noGrp="1"/>
          </p:cNvSpPr>
          <p:nvPr>
            <p:ph type="subTitle" idx="1"/>
          </p:nvPr>
        </p:nvSpPr>
        <p:spPr>
          <a:xfrm>
            <a:off x="1524000" y="748037"/>
            <a:ext cx="9708682" cy="1612648"/>
          </a:xfrm>
        </p:spPr>
        <p:txBody>
          <a:bodyPr vert="horz" lIns="91440" tIns="45720" rIns="91440" bIns="45720" numCol="1" rtlCol="0" anchor="t">
            <a:noAutofit/>
          </a:bodyPr>
          <a:lstStyle/>
          <a:p>
            <a:pPr algn="l"/>
            <a:r>
              <a:rPr lang="en-US" sz="2800" dirty="0">
                <a:latin typeface="Helvetica" pitchFamily="2" charset="0"/>
                <a:cs typeface="Calibri"/>
              </a:rPr>
              <a:t>Usage:</a:t>
            </a:r>
          </a:p>
          <a:p>
            <a:pPr algn="l">
              <a:lnSpc>
                <a:spcPct val="100000"/>
              </a:lnSpc>
              <a:spcBef>
                <a:spcPts val="0"/>
              </a:spcBef>
            </a:pPr>
            <a:r>
              <a:rPr lang="en-US" sz="1600" dirty="0">
                <a:cs typeface="Calibri"/>
              </a:rPr>
              <a:t>This was originally used to create the Subscription Center. It is still active, but is not being used / driven to currently. It was also acquired as a best practice is to have single use landing pages to be separated from the main landing page instance.</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4594270"/>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p>
          <a:p>
            <a:pPr algn="l">
              <a:lnSpc>
                <a:spcPct val="100000"/>
              </a:lnSpc>
              <a:spcBef>
                <a:spcPts val="0"/>
              </a:spcBef>
            </a:pPr>
            <a:r>
              <a:rPr lang="en-US" sz="1600" dirty="0">
                <a:cs typeface="Calibri"/>
                <a:hlinkClick r:id="rId2"/>
              </a:rPr>
              <a:t>hi@verifly.com</a:t>
            </a:r>
            <a:r>
              <a:rPr lang="en-US" sz="1600" dirty="0">
                <a:cs typeface="Calibri"/>
              </a:rPr>
              <a:t> / V3r1fly!</a:t>
            </a:r>
          </a:p>
          <a:p>
            <a:pPr algn="l"/>
            <a:endParaRPr lang="en-US" sz="20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This is not currently being used for any projects, but can be useful for future landing page tests</a:t>
            </a:r>
          </a:p>
          <a:p>
            <a:pPr algn="l"/>
            <a:endParaRPr lang="en-US" sz="2000" dirty="0">
              <a:cs typeface="Calibri"/>
            </a:endParaRPr>
          </a:p>
        </p:txBody>
      </p:sp>
    </p:spTree>
    <p:extLst>
      <p:ext uri="{BB962C8B-B14F-4D97-AF65-F5344CB8AC3E}">
        <p14:creationId xmlns:p14="http://schemas.microsoft.com/office/powerpoint/2010/main" val="3219316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a:latin typeface="Helvetica" pitchFamily="2" charset="0"/>
                <a:cs typeface="Calibri Light"/>
              </a:rPr>
              <a:t>Reply.io &amp; Prospect.io</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2800" dirty="0">
                <a:cs typeface="Calibri"/>
              </a:rPr>
              <a:t>Broker Campaign Tools / ESP</a:t>
            </a:r>
            <a:endParaRPr lang="en-US" dirty="0"/>
          </a:p>
        </p:txBody>
      </p:sp>
    </p:spTree>
    <p:extLst>
      <p:ext uri="{BB962C8B-B14F-4D97-AF65-F5344CB8AC3E}">
        <p14:creationId xmlns:p14="http://schemas.microsoft.com/office/powerpoint/2010/main" val="2517447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err="1">
                <a:latin typeface="Helvetica" pitchFamily="2" charset="0"/>
                <a:cs typeface="Calibri Light"/>
              </a:rPr>
              <a:t>Reply.io</a:t>
            </a:r>
            <a:r>
              <a:rPr lang="en-US" sz="1800" dirty="0">
                <a:latin typeface="Helvetica" pitchFamily="2" charset="0"/>
                <a:cs typeface="Calibri Light"/>
              </a:rPr>
              <a:t> / </a:t>
            </a:r>
            <a:r>
              <a:rPr lang="en-US" sz="1800" dirty="0" err="1">
                <a:latin typeface="Helvetica" pitchFamily="2" charset="0"/>
                <a:cs typeface="Calibri Light"/>
              </a:rPr>
              <a:t>Prospect.io</a:t>
            </a:r>
            <a:endParaRPr lang="en-US" sz="4800" dirty="0"/>
          </a:p>
        </p:txBody>
      </p:sp>
      <p:sp>
        <p:nvSpPr>
          <p:cNvPr id="3" name="Subtitle 2"/>
          <p:cNvSpPr>
            <a:spLocks noGrp="1"/>
          </p:cNvSpPr>
          <p:nvPr>
            <p:ph type="subTitle" idx="1"/>
          </p:nvPr>
        </p:nvSpPr>
        <p:spPr>
          <a:xfrm>
            <a:off x="1524000" y="748037"/>
            <a:ext cx="9708682" cy="1612648"/>
          </a:xfrm>
        </p:spPr>
        <p:txBody>
          <a:bodyPr vert="horz" lIns="91440" tIns="45720" rIns="91440" bIns="45720" numCol="1" rtlCol="0" anchor="t">
            <a:noAutofit/>
          </a:bodyPr>
          <a:lstStyle/>
          <a:p>
            <a:pPr algn="l"/>
            <a:r>
              <a:rPr lang="en-US" sz="2800" dirty="0">
                <a:latin typeface="Helvetica" pitchFamily="2" charset="0"/>
                <a:cs typeface="Calibri"/>
              </a:rPr>
              <a:t>Usages:</a:t>
            </a:r>
          </a:p>
          <a:p>
            <a:pPr algn="l">
              <a:lnSpc>
                <a:spcPct val="100000"/>
              </a:lnSpc>
              <a:spcBef>
                <a:spcPts val="0"/>
              </a:spcBef>
            </a:pPr>
            <a:r>
              <a:rPr lang="en-US" sz="1600" dirty="0">
                <a:cs typeface="Calibri"/>
              </a:rPr>
              <a:t>For prospecting outreach to brokers as part of business Development</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4594270"/>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p>
          <a:p>
            <a:pPr algn="l">
              <a:lnSpc>
                <a:spcPct val="100000"/>
              </a:lnSpc>
              <a:spcBef>
                <a:spcPts val="0"/>
              </a:spcBef>
            </a:pPr>
            <a:r>
              <a:rPr lang="en-US" sz="1600" dirty="0">
                <a:cs typeface="Calibri"/>
              </a:rPr>
              <a:t>See above</a:t>
            </a:r>
          </a:p>
          <a:p>
            <a:pPr algn="l"/>
            <a:endParaRPr lang="en-US" sz="20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Dave Bixler is lead on these tools</a:t>
            </a:r>
          </a:p>
          <a:p>
            <a:pPr algn="l"/>
            <a:endParaRPr lang="en-US" sz="2000" dirty="0">
              <a:cs typeface="Calibri"/>
            </a:endParaRPr>
          </a:p>
        </p:txBody>
      </p:sp>
    </p:spTree>
    <p:extLst>
      <p:ext uri="{BB962C8B-B14F-4D97-AF65-F5344CB8AC3E}">
        <p14:creationId xmlns:p14="http://schemas.microsoft.com/office/powerpoint/2010/main" val="517190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7200" dirty="0">
                <a:solidFill>
                  <a:schemeClr val="accent4"/>
                </a:solidFill>
                <a:latin typeface="Helvetica" pitchFamily="2" charset="0"/>
                <a:cs typeface="Calibri Light"/>
              </a:rPr>
              <a:t>Outstanding Projects</a:t>
            </a:r>
            <a:endParaRPr lang="en-US" sz="7200" dirty="0">
              <a:solidFill>
                <a:schemeClr val="accent4"/>
              </a:solidFill>
              <a:cs typeface="Calibri Light" panose="020F0302020204030204"/>
            </a:endParaRPr>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3200" dirty="0">
                <a:solidFill>
                  <a:schemeClr val="accent4"/>
                </a:solidFill>
                <a:cs typeface="Calibri"/>
              </a:rPr>
              <a:t>Next Steps</a:t>
            </a:r>
          </a:p>
        </p:txBody>
      </p:sp>
    </p:spTree>
    <p:extLst>
      <p:ext uri="{BB962C8B-B14F-4D97-AF65-F5344CB8AC3E}">
        <p14:creationId xmlns:p14="http://schemas.microsoft.com/office/powerpoint/2010/main" val="35004882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gn="l"/>
            <a:r>
              <a:rPr lang="en-US" sz="6600" dirty="0">
                <a:latin typeface="Helvetica" pitchFamily="2" charset="0"/>
                <a:cs typeface="Calibri Light"/>
              </a:rPr>
              <a:t>Transactional Update</a:t>
            </a:r>
            <a:endParaRPr lang="en-US" dirty="0"/>
          </a:p>
        </p:txBody>
      </p:sp>
      <p:sp>
        <p:nvSpPr>
          <p:cNvPr id="3" name="Subtitle 2"/>
          <p:cNvSpPr>
            <a:spLocks noGrp="1"/>
          </p:cNvSpPr>
          <p:nvPr>
            <p:ph type="subTitle" idx="1"/>
          </p:nvPr>
        </p:nvSpPr>
        <p:spPr/>
        <p:txBody>
          <a:bodyPr vert="horz" lIns="91440" tIns="45720" rIns="91440" bIns="45720" rtlCol="0" anchor="t">
            <a:noAutofit/>
          </a:bodyPr>
          <a:lstStyle/>
          <a:p>
            <a:pPr algn="l"/>
            <a:r>
              <a:rPr lang="en-US" sz="2800" dirty="0">
                <a:cs typeface="Calibri"/>
              </a:rPr>
              <a:t>Updating the templates that exist in SendGrid</a:t>
            </a:r>
          </a:p>
          <a:p>
            <a:pPr algn="l"/>
            <a:r>
              <a:rPr lang="en-US" sz="2800" dirty="0">
                <a:cs typeface="Calibri"/>
              </a:rPr>
              <a:t>---</a:t>
            </a:r>
          </a:p>
          <a:p>
            <a:pPr algn="l"/>
            <a:r>
              <a:rPr lang="en-US" dirty="0">
                <a:cs typeface="Calibri"/>
              </a:rPr>
              <a:t>As referenced under the SendGrid section all of the Transaction templates were updated to reflect UX design.</a:t>
            </a:r>
          </a:p>
          <a:p>
            <a:pPr algn="l"/>
            <a:r>
              <a:rPr lang="en-US" dirty="0">
                <a:cs typeface="Calibri"/>
              </a:rPr>
              <a:t>Can be accessed </a:t>
            </a:r>
            <a:r>
              <a:rPr lang="en-US" dirty="0">
                <a:cs typeface="Calibri"/>
                <a:hlinkClick r:id="rId2"/>
              </a:rPr>
              <a:t>here</a:t>
            </a:r>
            <a:r>
              <a:rPr lang="en-US" dirty="0">
                <a:cs typeface="Calibri"/>
              </a:rPr>
              <a:t> or </a:t>
            </a:r>
            <a:r>
              <a:rPr lang="en-US" dirty="0">
                <a:cs typeface="Calibri"/>
                <a:hlinkClick r:id="rId3"/>
              </a:rPr>
              <a:t>here</a:t>
            </a:r>
            <a:endParaRPr lang="en-US" dirty="0">
              <a:cs typeface="Calibri"/>
            </a:endParaRPr>
          </a:p>
          <a:p>
            <a:pPr algn="l"/>
            <a:endParaRPr lang="en-US" dirty="0"/>
          </a:p>
        </p:txBody>
      </p:sp>
    </p:spTree>
    <p:extLst>
      <p:ext uri="{BB962C8B-B14F-4D97-AF65-F5344CB8AC3E}">
        <p14:creationId xmlns:p14="http://schemas.microsoft.com/office/powerpoint/2010/main" val="39747805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122363"/>
            <a:ext cx="9641305" cy="2387600"/>
          </a:xfrm>
        </p:spPr>
        <p:txBody>
          <a:bodyPr>
            <a:noAutofit/>
          </a:bodyPr>
          <a:lstStyle/>
          <a:p>
            <a:pPr algn="l"/>
            <a:r>
              <a:rPr lang="en-US" sz="6600" dirty="0">
                <a:latin typeface="Helvetica" pitchFamily="2" charset="0"/>
                <a:cs typeface="Calibri Light"/>
              </a:rPr>
              <a:t>CRM Update &amp; Redesign</a:t>
            </a:r>
            <a:endParaRPr lang="en-US" dirty="0"/>
          </a:p>
        </p:txBody>
      </p:sp>
      <p:sp>
        <p:nvSpPr>
          <p:cNvPr id="3" name="Subtitle 2"/>
          <p:cNvSpPr>
            <a:spLocks noGrp="1"/>
          </p:cNvSpPr>
          <p:nvPr>
            <p:ph type="subTitle" idx="1"/>
          </p:nvPr>
        </p:nvSpPr>
        <p:spPr/>
        <p:txBody>
          <a:bodyPr vert="horz" lIns="91440" tIns="45720" rIns="91440" bIns="45720" rtlCol="0" anchor="t">
            <a:noAutofit/>
          </a:bodyPr>
          <a:lstStyle/>
          <a:p>
            <a:pPr algn="l"/>
            <a:r>
              <a:rPr lang="en-US" sz="2800" dirty="0">
                <a:cs typeface="Calibri"/>
              </a:rPr>
              <a:t>Changing content in Iterable to reflect brand updates and to better support current company objectives</a:t>
            </a:r>
            <a:endParaRPr lang="en-US" dirty="0"/>
          </a:p>
        </p:txBody>
      </p:sp>
    </p:spTree>
    <p:extLst>
      <p:ext uri="{BB962C8B-B14F-4D97-AF65-F5344CB8AC3E}">
        <p14:creationId xmlns:p14="http://schemas.microsoft.com/office/powerpoint/2010/main" val="3999552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7200" dirty="0" err="1">
                <a:solidFill>
                  <a:schemeClr val="accent4"/>
                </a:solidFill>
                <a:cs typeface="Calibri Light"/>
              </a:rPr>
              <a:t>Auxilary</a:t>
            </a:r>
            <a:r>
              <a:rPr lang="en-US" sz="7200" dirty="0">
                <a:solidFill>
                  <a:schemeClr val="accent4"/>
                </a:solidFill>
                <a:cs typeface="Calibri Light"/>
              </a:rPr>
              <a:t> </a:t>
            </a:r>
            <a:r>
              <a:rPr lang="en-US" sz="7200" dirty="0">
                <a:solidFill>
                  <a:schemeClr val="accent4"/>
                </a:solidFill>
                <a:latin typeface="Helvetica" pitchFamily="2" charset="0"/>
                <a:cs typeface="Calibri Light"/>
              </a:rPr>
              <a:t>Processes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3200" dirty="0">
                <a:solidFill>
                  <a:schemeClr val="accent4"/>
                </a:solidFill>
                <a:cs typeface="Calibri"/>
              </a:rPr>
              <a:t>Other tangential tools / actions related to CRM</a:t>
            </a:r>
            <a:endParaRPr lang="en-US" dirty="0">
              <a:solidFill>
                <a:schemeClr val="accent4"/>
              </a:solidFill>
            </a:endParaRPr>
          </a:p>
        </p:txBody>
      </p:sp>
    </p:spTree>
    <p:extLst>
      <p:ext uri="{BB962C8B-B14F-4D97-AF65-F5344CB8AC3E}">
        <p14:creationId xmlns:p14="http://schemas.microsoft.com/office/powerpoint/2010/main" val="22114230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a:latin typeface="Helvetica" pitchFamily="2" charset="0"/>
                <a:cs typeface="Calibri Light"/>
              </a:rPr>
              <a:t>Litmus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2800" dirty="0">
                <a:cs typeface="Calibri"/>
              </a:rPr>
              <a:t>Email Quality Assurance [QA] Software</a:t>
            </a:r>
            <a:endParaRPr lang="en-US" dirty="0"/>
          </a:p>
        </p:txBody>
      </p:sp>
    </p:spTree>
    <p:extLst>
      <p:ext uri="{BB962C8B-B14F-4D97-AF65-F5344CB8AC3E}">
        <p14:creationId xmlns:p14="http://schemas.microsoft.com/office/powerpoint/2010/main" val="234777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cs typeface="Calibri Light"/>
              </a:rPr>
              <a:t>Litmus</a:t>
            </a:r>
            <a:endParaRPr lang="en-US" sz="4800" dirty="0"/>
          </a:p>
        </p:txBody>
      </p:sp>
      <p:sp>
        <p:nvSpPr>
          <p:cNvPr id="3" name="Subtitle 2"/>
          <p:cNvSpPr>
            <a:spLocks noGrp="1"/>
          </p:cNvSpPr>
          <p:nvPr>
            <p:ph type="subTitle" idx="1"/>
          </p:nvPr>
        </p:nvSpPr>
        <p:spPr>
          <a:xfrm>
            <a:off x="1524000" y="748037"/>
            <a:ext cx="9708682" cy="1612648"/>
          </a:xfrm>
        </p:spPr>
        <p:txBody>
          <a:bodyPr vert="horz" lIns="91440" tIns="45720" rIns="91440" bIns="45720" numCol="1" rtlCol="0" anchor="t">
            <a:noAutofit/>
          </a:bodyPr>
          <a:lstStyle/>
          <a:p>
            <a:pPr algn="l"/>
            <a:r>
              <a:rPr lang="en-US" sz="2800" dirty="0">
                <a:latin typeface="Helvetica" pitchFamily="2" charset="0"/>
                <a:cs typeface="Calibri"/>
              </a:rPr>
              <a:t>Usage:</a:t>
            </a:r>
          </a:p>
          <a:p>
            <a:pPr algn="l">
              <a:lnSpc>
                <a:spcPct val="100000"/>
              </a:lnSpc>
              <a:spcBef>
                <a:spcPts val="0"/>
              </a:spcBef>
            </a:pPr>
            <a:r>
              <a:rPr lang="en-US" sz="1600" dirty="0">
                <a:cs typeface="Calibri"/>
              </a:rPr>
              <a:t>Litmus is used to QA all outgoing email templates.</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4594270"/>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p>
          <a:p>
            <a:pPr algn="l">
              <a:lnSpc>
                <a:spcPct val="100000"/>
              </a:lnSpc>
              <a:spcBef>
                <a:spcPts val="0"/>
              </a:spcBef>
            </a:pPr>
            <a:r>
              <a:rPr lang="en-US" sz="1600" dirty="0">
                <a:cs typeface="Calibri"/>
                <a:hlinkClick r:id="rId2"/>
              </a:rPr>
              <a:t>hi@verifly.com</a:t>
            </a:r>
            <a:r>
              <a:rPr lang="en-US" sz="1600" dirty="0">
                <a:cs typeface="Calibri"/>
              </a:rPr>
              <a:t> / V3r1fly!ds</a:t>
            </a:r>
          </a:p>
          <a:p>
            <a:pPr algn="l"/>
            <a:endParaRPr lang="en-US" sz="20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6457950"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A record of all the renders of all templates can be seen </a:t>
            </a:r>
            <a:r>
              <a:rPr lang="en-US" sz="1600" dirty="0">
                <a:cs typeface="Calibri"/>
                <a:hlinkClick r:id="rId3"/>
              </a:rPr>
              <a:t>here</a:t>
            </a:r>
            <a:r>
              <a:rPr lang="en-US" sz="1600" dirty="0">
                <a:cs typeface="Calibri"/>
              </a:rPr>
              <a:t>. </a:t>
            </a:r>
          </a:p>
          <a:p>
            <a:pPr algn="l">
              <a:lnSpc>
                <a:spcPct val="100000"/>
              </a:lnSpc>
              <a:spcBef>
                <a:spcPts val="0"/>
              </a:spcBef>
            </a:pPr>
            <a:r>
              <a:rPr lang="en-US" sz="1600" dirty="0">
                <a:cs typeface="Calibri"/>
              </a:rPr>
              <a:t>There is also a record of email tracking which provides inbox info such as clients and time spent in email that can be seen </a:t>
            </a:r>
            <a:r>
              <a:rPr lang="en-US" sz="1600" dirty="0">
                <a:cs typeface="Calibri"/>
                <a:hlinkClick r:id="rId4"/>
              </a:rPr>
              <a:t>here</a:t>
            </a:r>
            <a:r>
              <a:rPr lang="en-US" sz="1600" dirty="0">
                <a:cs typeface="Calibri"/>
              </a:rPr>
              <a:t>. </a:t>
            </a:r>
          </a:p>
        </p:txBody>
      </p:sp>
    </p:spTree>
    <p:extLst>
      <p:ext uri="{BB962C8B-B14F-4D97-AF65-F5344CB8AC3E}">
        <p14:creationId xmlns:p14="http://schemas.microsoft.com/office/powerpoint/2010/main" val="23019367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a:latin typeface="Helvetica" pitchFamily="2" charset="0"/>
                <a:cs typeface="Calibri Light"/>
              </a:rPr>
              <a:t>Zapier</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2800" dirty="0">
                <a:cs typeface="Calibri"/>
              </a:rPr>
              <a:t>Systems Integration</a:t>
            </a:r>
          </a:p>
        </p:txBody>
      </p:sp>
    </p:spTree>
    <p:extLst>
      <p:ext uri="{BB962C8B-B14F-4D97-AF65-F5344CB8AC3E}">
        <p14:creationId xmlns:p14="http://schemas.microsoft.com/office/powerpoint/2010/main" val="1614076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latin typeface="Helvetica" pitchFamily="2" charset="0"/>
                <a:cs typeface="Calibri Light"/>
              </a:rPr>
              <a:t>Zapier</a:t>
            </a:r>
            <a:endParaRPr lang="en-US" sz="4800" dirty="0"/>
          </a:p>
        </p:txBody>
      </p:sp>
      <p:sp>
        <p:nvSpPr>
          <p:cNvPr id="3" name="Subtitle 2"/>
          <p:cNvSpPr>
            <a:spLocks noGrp="1"/>
          </p:cNvSpPr>
          <p:nvPr>
            <p:ph type="subTitle" idx="1"/>
          </p:nvPr>
        </p:nvSpPr>
        <p:spPr>
          <a:xfrm>
            <a:off x="1524000" y="748037"/>
            <a:ext cx="8686800" cy="1612648"/>
          </a:xfrm>
        </p:spPr>
        <p:txBody>
          <a:bodyPr vert="horz" lIns="91440" tIns="45720" rIns="91440" bIns="45720" numCol="1" rtlCol="0" anchor="t">
            <a:noAutofit/>
          </a:bodyPr>
          <a:lstStyle/>
          <a:p>
            <a:pPr algn="l"/>
            <a:r>
              <a:rPr lang="en-US" sz="2800" dirty="0">
                <a:latin typeface="Helvetica" pitchFamily="2" charset="0"/>
                <a:cs typeface="Calibri"/>
              </a:rPr>
              <a:t>Usage:</a:t>
            </a:r>
          </a:p>
          <a:p>
            <a:pPr algn="l">
              <a:lnSpc>
                <a:spcPct val="100000"/>
              </a:lnSpc>
              <a:spcBef>
                <a:spcPts val="0"/>
              </a:spcBef>
            </a:pPr>
            <a:r>
              <a:rPr lang="en-US" sz="1600" dirty="0">
                <a:cs typeface="Calibri"/>
              </a:rPr>
              <a:t>Used to set up and test initial workflows / integrations. However, was deprecated to only be used to automated the unsub request that come through </a:t>
            </a:r>
            <a:r>
              <a:rPr lang="en-US" sz="1600" dirty="0" err="1">
                <a:cs typeface="Calibri"/>
              </a:rPr>
              <a:t>FreshDesk</a:t>
            </a:r>
            <a:r>
              <a:rPr lang="en-US" sz="1600" dirty="0">
                <a:cs typeface="Calibri"/>
              </a:rPr>
              <a:t> / email responses </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0" y="4594270"/>
            <a:ext cx="9708682"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Credentials:</a:t>
            </a:r>
          </a:p>
          <a:p>
            <a:pPr algn="l">
              <a:lnSpc>
                <a:spcPct val="100000"/>
              </a:lnSpc>
              <a:spcBef>
                <a:spcPts val="0"/>
              </a:spcBef>
            </a:pPr>
            <a:r>
              <a:rPr lang="en-US" sz="1600" dirty="0">
                <a:cs typeface="Calibri"/>
                <a:hlinkClick r:id="rId2"/>
              </a:rPr>
              <a:t>hi@verifly.com</a:t>
            </a:r>
            <a:r>
              <a:rPr lang="en-US" sz="1600" dirty="0">
                <a:cs typeface="Calibri"/>
              </a:rPr>
              <a:t> / V3r1fly!</a:t>
            </a:r>
          </a:p>
          <a:p>
            <a:pPr algn="l"/>
            <a:endParaRPr lang="en-US" sz="20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8458200"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Notes:</a:t>
            </a:r>
          </a:p>
          <a:p>
            <a:pPr algn="l">
              <a:lnSpc>
                <a:spcPct val="100000"/>
              </a:lnSpc>
              <a:spcBef>
                <a:spcPts val="0"/>
              </a:spcBef>
            </a:pPr>
            <a:r>
              <a:rPr lang="en-US" sz="1600" dirty="0">
                <a:cs typeface="Calibri"/>
              </a:rPr>
              <a:t>Any user that goes through this associated </a:t>
            </a:r>
            <a:r>
              <a:rPr lang="en-US" sz="1600" dirty="0">
                <a:cs typeface="Calibri"/>
                <a:hlinkClick r:id="rId3"/>
              </a:rPr>
              <a:t>z</a:t>
            </a:r>
            <a:r>
              <a:rPr lang="en-US" sz="1600" dirty="0">
                <a:cs typeface="Calibri"/>
                <a:hlinkClick r:id="rId3"/>
              </a:rPr>
              <a:t>ap</a:t>
            </a:r>
            <a:r>
              <a:rPr lang="en-US" sz="1600" dirty="0">
                <a:cs typeface="Calibri"/>
              </a:rPr>
              <a:t> gets triggered in Iterable and flagged as ”fresh desk” and are suppressed and unsubscribed from Emails, they are marked as unsub in </a:t>
            </a:r>
            <a:r>
              <a:rPr lang="en-US" sz="1600" dirty="0" err="1">
                <a:cs typeface="Calibri"/>
              </a:rPr>
              <a:t>FreshDesk</a:t>
            </a:r>
            <a:r>
              <a:rPr lang="en-US" sz="1600" dirty="0">
                <a:cs typeface="Calibri"/>
              </a:rPr>
              <a:t>, and a ping is sent to Slack so that marketing is aware of these set of events</a:t>
            </a:r>
          </a:p>
          <a:p>
            <a:pPr algn="l"/>
            <a:endParaRPr lang="en-US" sz="2000" dirty="0">
              <a:cs typeface="Calibri"/>
            </a:endParaRPr>
          </a:p>
        </p:txBody>
      </p:sp>
    </p:spTree>
    <p:extLst>
      <p:ext uri="{BB962C8B-B14F-4D97-AF65-F5344CB8AC3E}">
        <p14:creationId xmlns:p14="http://schemas.microsoft.com/office/powerpoint/2010/main" val="243173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6600" dirty="0">
                <a:latin typeface="Helvetica" pitchFamily="2" charset="0"/>
                <a:cs typeface="Calibri Light"/>
              </a:rPr>
              <a:t>Recommendations </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2800" dirty="0">
                <a:cs typeface="Calibri"/>
              </a:rPr>
              <a:t>Moving forward with CRM</a:t>
            </a:r>
            <a:endParaRPr lang="en-US" dirty="0"/>
          </a:p>
        </p:txBody>
      </p:sp>
    </p:spTree>
    <p:extLst>
      <p:ext uri="{BB962C8B-B14F-4D97-AF65-F5344CB8AC3E}">
        <p14:creationId xmlns:p14="http://schemas.microsoft.com/office/powerpoint/2010/main" val="6868192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gn="l"/>
            <a:r>
              <a:rPr lang="en-US" sz="6600" dirty="0">
                <a:latin typeface="Helvetica" pitchFamily="2" charset="0"/>
                <a:cs typeface="Calibri Light"/>
              </a:rPr>
              <a:t>CRM </a:t>
            </a:r>
            <a:r>
              <a:rPr lang="en-US" sz="6600" dirty="0">
                <a:cs typeface="Calibri Light"/>
              </a:rPr>
              <a:t>Engine</a:t>
            </a:r>
            <a:endParaRPr lang="en-US" dirty="0"/>
          </a:p>
        </p:txBody>
      </p:sp>
      <p:sp>
        <p:nvSpPr>
          <p:cNvPr id="3" name="Subtitle 2"/>
          <p:cNvSpPr>
            <a:spLocks noGrp="1"/>
          </p:cNvSpPr>
          <p:nvPr>
            <p:ph type="subTitle" idx="1"/>
          </p:nvPr>
        </p:nvSpPr>
        <p:spPr>
          <a:xfrm>
            <a:off x="1523999" y="3602038"/>
            <a:ext cx="8736531" cy="1655762"/>
          </a:xfrm>
        </p:spPr>
        <p:txBody>
          <a:bodyPr vert="horz" lIns="91440" tIns="45720" rIns="91440" bIns="45720" rtlCol="0" anchor="t">
            <a:noAutofit/>
          </a:bodyPr>
          <a:lstStyle/>
          <a:p>
            <a:pPr algn="l"/>
            <a:r>
              <a:rPr lang="en-US" sz="2800" dirty="0">
                <a:cs typeface="Calibri"/>
              </a:rPr>
              <a:t>Recommendation on moving away from Iterable as the CRM / Marketing Automation platform; the contract renews around Dec 2019 /Jan 2020</a:t>
            </a:r>
            <a:endParaRPr lang="en-US" dirty="0"/>
          </a:p>
        </p:txBody>
      </p:sp>
      <p:sp>
        <p:nvSpPr>
          <p:cNvPr id="5" name="Title 1">
            <a:extLst>
              <a:ext uri="{FF2B5EF4-FFF2-40B4-BE49-F238E27FC236}">
                <a16:creationId xmlns:a16="http://schemas.microsoft.com/office/drawing/2014/main" id="{1388212C-227B-8249-8BB9-70C8AB8E3F5C}"/>
              </a:ext>
            </a:extLst>
          </p:cNvPr>
          <p:cNvSpPr txBox="1">
            <a:spLocks/>
          </p:cNvSpPr>
          <p:nvPr/>
        </p:nvSpPr>
        <p:spPr>
          <a:xfrm>
            <a:off x="0" y="-2052"/>
            <a:ext cx="9144000" cy="65094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b="0" i="0" kern="1200">
                <a:solidFill>
                  <a:schemeClr val="tx1"/>
                </a:solidFill>
                <a:latin typeface="Helvetica" pitchFamily="2" charset="0"/>
                <a:ea typeface="+mj-ea"/>
                <a:cs typeface="+mj-cs"/>
              </a:defRPr>
            </a:lvl1pPr>
          </a:lstStyle>
          <a:p>
            <a:pPr algn="l"/>
            <a:r>
              <a:rPr lang="en-US" sz="1800">
                <a:cs typeface="Calibri Light"/>
              </a:rPr>
              <a:t>   Recommendations</a:t>
            </a:r>
            <a:endParaRPr lang="en-US" sz="4800" dirty="0"/>
          </a:p>
        </p:txBody>
      </p:sp>
    </p:spTree>
    <p:extLst>
      <p:ext uri="{BB962C8B-B14F-4D97-AF65-F5344CB8AC3E}">
        <p14:creationId xmlns:p14="http://schemas.microsoft.com/office/powerpoint/2010/main" val="3117659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52"/>
            <a:ext cx="9144000" cy="650949"/>
          </a:xfrm>
        </p:spPr>
        <p:txBody>
          <a:bodyPr vert="horz" lIns="91440" tIns="45720" rIns="91440" bIns="45720" rtlCol="0" anchor="t">
            <a:noAutofit/>
          </a:bodyPr>
          <a:lstStyle/>
          <a:p>
            <a:pPr algn="l"/>
            <a:r>
              <a:rPr lang="en-US" sz="1800" dirty="0">
                <a:cs typeface="Calibri Light"/>
              </a:rPr>
              <a:t>   Recommendations</a:t>
            </a:r>
            <a:endParaRPr lang="en-US" sz="4800" dirty="0"/>
          </a:p>
        </p:txBody>
      </p:sp>
      <p:sp>
        <p:nvSpPr>
          <p:cNvPr id="3" name="Subtitle 2"/>
          <p:cNvSpPr>
            <a:spLocks noGrp="1"/>
          </p:cNvSpPr>
          <p:nvPr>
            <p:ph type="subTitle" idx="1"/>
          </p:nvPr>
        </p:nvSpPr>
        <p:spPr>
          <a:xfrm>
            <a:off x="1523999" y="748037"/>
            <a:ext cx="6457949" cy="1612648"/>
          </a:xfrm>
        </p:spPr>
        <p:txBody>
          <a:bodyPr vert="horz" lIns="91440" tIns="45720" rIns="91440" bIns="45720" numCol="1" rtlCol="0" anchor="t">
            <a:noAutofit/>
          </a:bodyPr>
          <a:lstStyle/>
          <a:p>
            <a:pPr algn="l"/>
            <a:r>
              <a:rPr lang="en-US" sz="2800" dirty="0">
                <a:latin typeface="Helvetica" pitchFamily="2" charset="0"/>
                <a:cs typeface="Calibri"/>
              </a:rPr>
              <a:t>Braze</a:t>
            </a:r>
          </a:p>
          <a:p>
            <a:pPr algn="l">
              <a:lnSpc>
                <a:spcPct val="100000"/>
              </a:lnSpc>
              <a:spcBef>
                <a:spcPts val="0"/>
              </a:spcBef>
            </a:pPr>
            <a:r>
              <a:rPr lang="en-US" sz="1600" dirty="0">
                <a:cs typeface="Calibri"/>
              </a:rPr>
              <a:t>Best in class option; more expensive but easier to use with all the same marketing channels as Iterable</a:t>
            </a:r>
          </a:p>
          <a:p>
            <a:pPr algn="l">
              <a:lnSpc>
                <a:spcPct val="100000"/>
              </a:lnSpc>
              <a:spcBef>
                <a:spcPts val="0"/>
              </a:spcBef>
            </a:pPr>
            <a:r>
              <a:rPr lang="en-US" sz="1600" dirty="0">
                <a:hlinkClick r:id="rId2"/>
              </a:rPr>
              <a:t>https://www.braze.com/product/</a:t>
            </a:r>
            <a:endParaRPr lang="en-US" sz="1600" dirty="0">
              <a:latin typeface="Helvetica" pitchFamily="2" charset="0"/>
              <a:cs typeface="Calibri"/>
            </a:endParaRPr>
          </a:p>
          <a:p>
            <a:pPr algn="l"/>
            <a:endParaRPr lang="en-US" sz="2000" dirty="0">
              <a:latin typeface="Helvetica" pitchFamily="2" charset="0"/>
              <a:cs typeface="Calibri"/>
            </a:endParaRPr>
          </a:p>
        </p:txBody>
      </p:sp>
      <p:sp>
        <p:nvSpPr>
          <p:cNvPr id="5" name="Subtitle 2">
            <a:extLst>
              <a:ext uri="{FF2B5EF4-FFF2-40B4-BE49-F238E27FC236}">
                <a16:creationId xmlns:a16="http://schemas.microsoft.com/office/drawing/2014/main" id="{E321A299-E0B7-1947-8970-8F905DC08B37}"/>
              </a:ext>
            </a:extLst>
          </p:cNvPr>
          <p:cNvSpPr txBox="1">
            <a:spLocks/>
          </p:cNvSpPr>
          <p:nvPr/>
        </p:nvSpPr>
        <p:spPr>
          <a:xfrm>
            <a:off x="1524001" y="4594270"/>
            <a:ext cx="6457948"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Active Campaign</a:t>
            </a:r>
          </a:p>
          <a:p>
            <a:pPr algn="l">
              <a:lnSpc>
                <a:spcPct val="100000"/>
              </a:lnSpc>
              <a:spcBef>
                <a:spcPts val="0"/>
              </a:spcBef>
            </a:pPr>
            <a:r>
              <a:rPr lang="en-US" sz="1600" dirty="0">
                <a:cs typeface="Calibri"/>
              </a:rPr>
              <a:t>More traditional marketing automation platform with some CRM capabilities. Could be used to evaluate moving towards a marketing stack rather than an all-in-one solution</a:t>
            </a:r>
          </a:p>
          <a:p>
            <a:pPr algn="l">
              <a:lnSpc>
                <a:spcPct val="100000"/>
              </a:lnSpc>
              <a:spcBef>
                <a:spcPts val="0"/>
              </a:spcBef>
            </a:pPr>
            <a:r>
              <a:rPr lang="en-US" sz="1600" dirty="0">
                <a:hlinkClick r:id="rId3"/>
              </a:rPr>
              <a:t>https://www.activecampaign.com/pricing/</a:t>
            </a:r>
            <a:endParaRPr lang="en-US" sz="1600" dirty="0">
              <a:cs typeface="Calibri"/>
            </a:endParaRPr>
          </a:p>
          <a:p>
            <a:pPr algn="l"/>
            <a:endParaRPr lang="en-US" sz="2000" dirty="0">
              <a:cs typeface="Calibri"/>
            </a:endParaRPr>
          </a:p>
        </p:txBody>
      </p:sp>
      <p:sp>
        <p:nvSpPr>
          <p:cNvPr id="6" name="Subtitle 2">
            <a:extLst>
              <a:ext uri="{FF2B5EF4-FFF2-40B4-BE49-F238E27FC236}">
                <a16:creationId xmlns:a16="http://schemas.microsoft.com/office/drawing/2014/main" id="{77008344-7217-3E4F-AEB4-18ACC22EFE67}"/>
              </a:ext>
            </a:extLst>
          </p:cNvPr>
          <p:cNvSpPr txBox="1">
            <a:spLocks/>
          </p:cNvSpPr>
          <p:nvPr/>
        </p:nvSpPr>
        <p:spPr>
          <a:xfrm>
            <a:off x="1524000" y="2671153"/>
            <a:ext cx="6457950" cy="1612648"/>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cs typeface="Calibri"/>
              </a:rPr>
              <a:t>Drip</a:t>
            </a:r>
          </a:p>
          <a:p>
            <a:pPr algn="l">
              <a:lnSpc>
                <a:spcPct val="100000"/>
              </a:lnSpc>
              <a:spcBef>
                <a:spcPts val="0"/>
              </a:spcBef>
            </a:pPr>
            <a:r>
              <a:rPr lang="en-US" sz="1600" dirty="0">
                <a:cs typeface="Calibri"/>
              </a:rPr>
              <a:t>Slightly lesser version of Braze, may be more suitable for current state of Verifly as a marketing automation solution</a:t>
            </a:r>
          </a:p>
          <a:p>
            <a:pPr algn="l">
              <a:lnSpc>
                <a:spcPct val="100000"/>
              </a:lnSpc>
              <a:spcBef>
                <a:spcPts val="0"/>
              </a:spcBef>
            </a:pPr>
            <a:r>
              <a:rPr lang="en-US" sz="1600" dirty="0">
                <a:hlinkClick r:id="rId4"/>
              </a:rPr>
              <a:t>https://www.drip.com/features</a:t>
            </a:r>
            <a:endParaRPr lang="en-US" sz="1600" dirty="0">
              <a:cs typeface="Calibri"/>
            </a:endParaRPr>
          </a:p>
        </p:txBody>
      </p:sp>
    </p:spTree>
    <p:extLst>
      <p:ext uri="{BB962C8B-B14F-4D97-AF65-F5344CB8AC3E}">
        <p14:creationId xmlns:p14="http://schemas.microsoft.com/office/powerpoint/2010/main" val="22853939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7200" dirty="0">
                <a:solidFill>
                  <a:srgbClr val="000000"/>
                </a:solidFill>
                <a:latin typeface="Helvetica" pitchFamily="2" charset="0"/>
                <a:cs typeface="Calibri Light"/>
              </a:rPr>
              <a:t>Key Terms</a:t>
            </a:r>
            <a:endParaRPr lang="en-US" dirty="0">
              <a:solidFill>
                <a:srgbClr val="000000"/>
              </a:solidFill>
            </a:endParaRPr>
          </a:p>
        </p:txBody>
      </p:sp>
      <p:sp>
        <p:nvSpPr>
          <p:cNvPr id="3" name="Subtitle 2"/>
          <p:cNvSpPr>
            <a:spLocks noGrp="1"/>
          </p:cNvSpPr>
          <p:nvPr>
            <p:ph type="subTitle" idx="1"/>
          </p:nvPr>
        </p:nvSpPr>
        <p:spPr/>
        <p:txBody>
          <a:bodyPr vert="horz" lIns="91440" tIns="45720" rIns="91440" bIns="45720" rtlCol="0" anchor="t">
            <a:normAutofit/>
          </a:bodyPr>
          <a:lstStyle/>
          <a:p>
            <a:pPr algn="l"/>
            <a:r>
              <a:rPr lang="en-US" sz="3200" dirty="0">
                <a:solidFill>
                  <a:srgbClr val="000000"/>
                </a:solidFill>
                <a:cs typeface="Calibri"/>
              </a:rPr>
              <a:t>Things to Know</a:t>
            </a:r>
            <a:endParaRPr lang="en-US" dirty="0">
              <a:solidFill>
                <a:srgbClr val="000000"/>
              </a:solidFill>
            </a:endParaRPr>
          </a:p>
        </p:txBody>
      </p:sp>
      <p:sp>
        <p:nvSpPr>
          <p:cNvPr id="5" name="Title 1">
            <a:extLst>
              <a:ext uri="{FF2B5EF4-FFF2-40B4-BE49-F238E27FC236}">
                <a16:creationId xmlns:a16="http://schemas.microsoft.com/office/drawing/2014/main" id="{AFBA27FA-1634-4157-81DE-E87514D61CF7}"/>
              </a:ext>
            </a:extLst>
          </p:cNvPr>
          <p:cNvSpPr txBox="1">
            <a:spLocks/>
          </p:cNvSpPr>
          <p:nvPr/>
        </p:nvSpPr>
        <p:spPr>
          <a:xfrm>
            <a:off x="1676400" y="308972"/>
            <a:ext cx="979082" cy="234507"/>
          </a:xfrm>
          <a:prstGeom prst="rect">
            <a:avLst/>
          </a:prstGeom>
          <a:solidFill>
            <a:schemeClr val="tx1"/>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100" dirty="0">
                <a:solidFill>
                  <a:schemeClr val="accent4">
                    <a:lumMod val="40000"/>
                    <a:lumOff val="60000"/>
                  </a:schemeClr>
                </a:solidFill>
                <a:latin typeface="Helvetica" pitchFamily="2" charset="0"/>
                <a:hlinkClick r:id="rId2"/>
              </a:rPr>
              <a:t>AFFIX</a:t>
            </a:r>
            <a:endParaRPr lang="en-US" sz="1100" dirty="0">
              <a:solidFill>
                <a:schemeClr val="accent4">
                  <a:lumMod val="40000"/>
                  <a:lumOff val="60000"/>
                </a:schemeClr>
              </a:solidFill>
              <a:latin typeface="Helvetica" pitchFamily="2" charset="0"/>
              <a:cs typeface="Calibri Light"/>
            </a:endParaRPr>
          </a:p>
        </p:txBody>
      </p:sp>
    </p:spTree>
    <p:extLst>
      <p:ext uri="{BB962C8B-B14F-4D97-AF65-F5344CB8AC3E}">
        <p14:creationId xmlns:p14="http://schemas.microsoft.com/office/powerpoint/2010/main" val="10956911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E3A01A-85CD-6346-8481-930B51CD60A1}"/>
              </a:ext>
            </a:extLst>
          </p:cNvPr>
          <p:cNvPicPr>
            <a:picLocks noChangeAspect="1"/>
          </p:cNvPicPr>
          <p:nvPr/>
        </p:nvPicPr>
        <p:blipFill>
          <a:blip r:embed="rId2"/>
          <a:stretch>
            <a:fillRect/>
          </a:stretch>
        </p:blipFill>
        <p:spPr>
          <a:xfrm>
            <a:off x="1057984" y="706247"/>
            <a:ext cx="10076033" cy="5445504"/>
          </a:xfrm>
          <a:prstGeom prst="rect">
            <a:avLst/>
          </a:prstGeom>
        </p:spPr>
      </p:pic>
    </p:spTree>
    <p:extLst>
      <p:ext uri="{BB962C8B-B14F-4D97-AF65-F5344CB8AC3E}">
        <p14:creationId xmlns:p14="http://schemas.microsoft.com/office/powerpoint/2010/main" val="39592241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0B2159-A01E-6F4C-902A-2E52C230EECE}"/>
              </a:ext>
            </a:extLst>
          </p:cNvPr>
          <p:cNvPicPr>
            <a:picLocks noChangeAspect="1"/>
          </p:cNvPicPr>
          <p:nvPr/>
        </p:nvPicPr>
        <p:blipFill>
          <a:blip r:embed="rId2"/>
          <a:stretch>
            <a:fillRect/>
          </a:stretch>
        </p:blipFill>
        <p:spPr>
          <a:xfrm>
            <a:off x="1057984" y="642713"/>
            <a:ext cx="10076033" cy="5572574"/>
          </a:xfrm>
          <a:prstGeom prst="rect">
            <a:avLst/>
          </a:prstGeom>
        </p:spPr>
      </p:pic>
    </p:spTree>
    <p:extLst>
      <p:ext uri="{BB962C8B-B14F-4D97-AF65-F5344CB8AC3E}">
        <p14:creationId xmlns:p14="http://schemas.microsoft.com/office/powerpoint/2010/main" val="34191120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D89CEE19A33740B69D736C0932828B" ma:contentTypeVersion="13" ma:contentTypeDescription="Create a new document." ma:contentTypeScope="" ma:versionID="08583a3796b6a15c225392c40d4ca589">
  <xsd:schema xmlns:xsd="http://www.w3.org/2001/XMLSchema" xmlns:xs="http://www.w3.org/2001/XMLSchema" xmlns:p="http://schemas.microsoft.com/office/2006/metadata/properties" xmlns:ns2="109daadf-be22-4a5c-8771-d00024cefd90" xmlns:ns3="8850470b-8e2b-4614-9100-7b4da4adc7af" targetNamespace="http://schemas.microsoft.com/office/2006/metadata/properties" ma:root="true" ma:fieldsID="775c728d9a294ec0475b0e8960a4b559" ns2:_="" ns3:_="">
    <xsd:import namespace="109daadf-be22-4a5c-8771-d00024cefd90"/>
    <xsd:import namespace="8850470b-8e2b-4614-9100-7b4da4adc7a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2:MediaServiceOCR" minOccurs="0"/>
                <xsd:element ref="ns2:MediaServiceLocation" minOccurs="0"/>
                <xsd:element ref="ns2:MediaServiceEventHashCode" minOccurs="0"/>
                <xsd:element ref="ns2:MediaServiceGenerationTime" minOccurs="0"/>
                <xsd:element ref="ns2:Send_x0020_to_x0020_Locatio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9daadf-be22-4a5c-8771-d00024cefd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Send_x0020_to_x0020_Location" ma:index="18" nillable="true" ma:displayName="Send to Location" ma:format="Hyperlink" ma:internalName="Send_x0020_to_x0020_Location">
      <xsd:complexType>
        <xsd:complexContent>
          <xsd:extension base="dms:URL">
            <xsd:sequence>
              <xsd:element name="Url" type="dms:ValidUrl" minOccurs="0" nillable="true"/>
              <xsd:element name="Description" type="xsd:string" nillable="true"/>
            </xsd:sequence>
          </xsd:extension>
        </xsd:complexContent>
      </xsd:complex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850470b-8e2b-4614-9100-7b4da4adc7a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end_x0020_to_x0020_Location xmlns="109daadf-be22-4a5c-8771-d00024cefd90">
      <Url xsi:nil="true"/>
      <Description xsi:nil="true"/>
    </Send_x0020_to_x0020_Location>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828E82-C7D0-4A56-BD49-AEEB8A2D3E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9daadf-be22-4a5c-8771-d00024cefd90"/>
    <ds:schemaRef ds:uri="8850470b-8e2b-4614-9100-7b4da4adc7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CF004B8-EA88-4DA3-9885-EE09F5BC5BF4}">
  <ds:schemaRefs>
    <ds:schemaRef ds:uri="http://purl.org/dc/terms/"/>
    <ds:schemaRef ds:uri="8850470b-8e2b-4614-9100-7b4da4adc7af"/>
    <ds:schemaRef ds:uri="http://purl.org/dc/elements/1.1/"/>
    <ds:schemaRef ds:uri="http://schemas.openxmlformats.org/package/2006/metadata/core-properties"/>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109daadf-be22-4a5c-8771-d00024cefd90"/>
    <ds:schemaRef ds:uri="http://purl.org/dc/dcmitype/"/>
  </ds:schemaRefs>
</ds:datastoreItem>
</file>

<file path=customXml/itemProps3.xml><?xml version="1.0" encoding="utf-8"?>
<ds:datastoreItem xmlns:ds="http://schemas.openxmlformats.org/officeDocument/2006/customXml" ds:itemID="{6692D521-0542-4362-8B90-58EE1A40EC9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Atlas</Template>
  <TotalTime>7726</TotalTime>
  <Words>2067</Words>
  <Application>Microsoft Macintosh PowerPoint</Application>
  <PresentationFormat>Widescreen</PresentationFormat>
  <Paragraphs>262</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Helvetica</vt:lpstr>
      <vt:lpstr>office theme</vt:lpstr>
      <vt:lpstr>CRM OVERVIEW</vt:lpstr>
      <vt:lpstr>Touch Points</vt:lpstr>
      <vt:lpstr>Iterable</vt:lpstr>
      <vt:lpstr>SendGrid</vt:lpstr>
      <vt:lpstr>   Iterable </vt:lpstr>
      <vt:lpstr>   Iterable </vt:lpstr>
      <vt:lpstr>   Iterable </vt:lpstr>
      <vt:lpstr>   Iterable </vt:lpstr>
      <vt:lpstr>   Iterable </vt:lpstr>
      <vt:lpstr>   Iterable </vt:lpstr>
      <vt:lpstr>   Iterable </vt:lpstr>
      <vt:lpstr>   Iterable </vt:lpstr>
      <vt:lpstr>   Iterable </vt:lpstr>
      <vt:lpstr>   Iterable </vt:lpstr>
      <vt:lpstr>   Iterable </vt:lpstr>
      <vt:lpstr>Reporting</vt:lpstr>
      <vt:lpstr>Key Documents</vt:lpstr>
      <vt:lpstr>Best Practices and FYI</vt:lpstr>
      <vt:lpstr>SendGrid</vt:lpstr>
      <vt:lpstr>SendGrid</vt:lpstr>
      <vt:lpstr>   SendGrid </vt:lpstr>
      <vt:lpstr>   SendGrid </vt:lpstr>
      <vt:lpstr>   SendGrid </vt:lpstr>
      <vt:lpstr>Yotpo</vt:lpstr>
      <vt:lpstr>Yotpo</vt:lpstr>
      <vt:lpstr>Delighted</vt:lpstr>
      <vt:lpstr>Delighted</vt:lpstr>
      <vt:lpstr>Typeform</vt:lpstr>
      <vt:lpstr>TypeForm</vt:lpstr>
      <vt:lpstr>Webflow</vt:lpstr>
      <vt:lpstr>Webflow</vt:lpstr>
      <vt:lpstr>Reply.io &amp; Prospect.io</vt:lpstr>
      <vt:lpstr>Reply.io / Prospect.io</vt:lpstr>
      <vt:lpstr>Outstanding Projects</vt:lpstr>
      <vt:lpstr>Transactional Update</vt:lpstr>
      <vt:lpstr>CRM Update &amp; Redesign</vt:lpstr>
      <vt:lpstr>Auxilary Processes</vt:lpstr>
      <vt:lpstr>Litmus</vt:lpstr>
      <vt:lpstr>Litmus</vt:lpstr>
      <vt:lpstr>Zapier</vt:lpstr>
      <vt:lpstr>Zapier</vt:lpstr>
      <vt:lpstr>Recommendations </vt:lpstr>
      <vt:lpstr>CRM Engine</vt:lpstr>
      <vt:lpstr>   Recommendations</vt:lpstr>
      <vt:lpstr>Key Terms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Christopher Cooper</cp:lastModifiedBy>
  <cp:revision>366</cp:revision>
  <dcterms:created xsi:type="dcterms:W3CDTF">2013-07-15T20:26:40Z</dcterms:created>
  <dcterms:modified xsi:type="dcterms:W3CDTF">2019-07-31T22:07:45Z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0x0101006DD89CEE19A33740B69D736C0932828B</vt:lpwstr>
  </property>
</Properties>
</file>